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50" d="100"/>
          <a:sy n="150" d="100"/>
        </p:scale>
        <p:origin x="654" y="1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235200" y="2001520"/>
            <a:ext cx="722630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rPr dirty="0"/>
              <a:t>Fake News Detection</a:t>
            </a:r>
            <a:br>
              <a:rPr dirty="0"/>
            </a:br>
            <a:r>
              <a:rPr dirty="0"/>
              <a:t>with NLP Classification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19989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3498DB"/>
                </a:solidFill>
                <a:latin typeface="Calibri"/>
              </a:defRPr>
            </a:pPr>
            <a:r>
              <a:rPr dirty="0"/>
              <a:t>TF-IDF  •  Word2Vec  •  Random Forest  •  </a:t>
            </a:r>
            <a:r>
              <a:rPr dirty="0" err="1"/>
              <a:t>XGBoost</a:t>
            </a:r>
            <a:r>
              <a:rPr dirty="0"/>
              <a:t>  •  Gradient Boosting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76630" y="300554"/>
            <a:ext cx="952627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rPr dirty="0"/>
              <a:t>Where NLP Classification Sits in the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77925" y="996583"/>
            <a:ext cx="340487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BBBB"/>
                </a:solidFill>
                <a:latin typeface="Calibri"/>
              </a:defRPr>
            </a:pPr>
            <a:r>
              <a:rPr dirty="0"/>
              <a:t>The 5 Eras of Text Classification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1200" y="1645920"/>
            <a:ext cx="1574800" cy="1463040"/>
          </a:xfrm>
          <a:prstGeom prst="roundRect">
            <a:avLst/>
          </a:prstGeom>
          <a:noFill/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74C3C"/>
                </a:solidFill>
                <a:latin typeface="Calibri"/>
              </a:defRPr>
            </a:pPr>
            <a:r>
              <a:t>1. Rule-Based</a:t>
            </a:r>
            <a:br/>
            <a:r>
              <a:t>1950s–1990s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28600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BBBBB"/>
                </a:solidFill>
                <a:latin typeface="Calibri"/>
              </a:defRPr>
            </a:pPr>
            <a:r>
              <a:t>Hand-crafted regex</a:t>
            </a:r>
            <a:br/>
            <a:r>
              <a:t>Keyword matching</a:t>
            </a:r>
            <a:br/>
            <a:r>
              <a:t>IF 'fake' THEN label=0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402839" y="2240280"/>
            <a:ext cx="591507" cy="274320"/>
          </a:xfrm>
          <a:prstGeom prst="rightArrow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017520" y="1645920"/>
            <a:ext cx="1508760" cy="1463040"/>
          </a:xfrm>
          <a:prstGeom prst="roundRect">
            <a:avLst/>
          </a:prstGeom>
          <a:noFill/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80360" y="17373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39C12"/>
                </a:solidFill>
                <a:latin typeface="Calibri"/>
              </a:defRPr>
            </a:pPr>
            <a:r>
              <a:t>2. Classical ML</a:t>
            </a:r>
            <a:br/>
            <a:r>
              <a:t>2000s–2010s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228600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BBBBB"/>
                </a:solidFill>
                <a:latin typeface="Calibri"/>
              </a:defRPr>
            </a:pPr>
            <a:r>
              <a:t>TF-IDF + SVMs</a:t>
            </a:r>
            <a:br/>
            <a:r>
              <a:t>Random Forests</a:t>
            </a:r>
            <a:br/>
            <a:r>
              <a:t>Naive Bayes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663439" y="2240280"/>
            <a:ext cx="563671" cy="274320"/>
          </a:xfrm>
          <a:prstGeom prst="rightArrow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349240" y="1645920"/>
            <a:ext cx="1508760" cy="1463040"/>
          </a:xfrm>
          <a:prstGeom prst="roundRect">
            <a:avLst/>
          </a:prstGeom>
          <a:noFill/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166360" y="17373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CC71"/>
                </a:solidFill>
                <a:latin typeface="Calibri"/>
              </a:defRPr>
            </a:pPr>
            <a:r>
              <a:t>3. Embeddings</a:t>
            </a:r>
            <a:br/>
            <a:r>
              <a:t>2013–2018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66360" y="228600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BBBBB"/>
                </a:solidFill>
                <a:latin typeface="Calibri"/>
              </a:defRPr>
            </a:pPr>
            <a:r>
              <a:t>Word2Vec, GloVe</a:t>
            </a:r>
            <a:br/>
            <a:r>
              <a:t>FastText</a:t>
            </a:r>
            <a:br/>
            <a:r>
              <a:t>← We are here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995159" y="2240280"/>
            <a:ext cx="501041" cy="274320"/>
          </a:xfrm>
          <a:prstGeom prst="rightArrow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612380" y="1645920"/>
            <a:ext cx="1490980" cy="1463040"/>
          </a:xfrm>
          <a:prstGeom prst="roundRect">
            <a:avLst/>
          </a:prstGeom>
          <a:noFill/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52360" y="17373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498DB"/>
                </a:solidFill>
                <a:latin typeface="Calibri"/>
              </a:defRPr>
            </a:pPr>
            <a:r>
              <a:t>4. Deep RNNs</a:t>
            </a:r>
            <a:br/>
            <a:r>
              <a:t>2014–2019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60" y="228600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BBBBB"/>
                </a:solidFill>
                <a:latin typeface="Calibri"/>
              </a:defRPr>
            </a:pPr>
            <a:r>
              <a:t>LSTMs, GRUs</a:t>
            </a:r>
            <a:br/>
            <a:r>
              <a:t>BiLSTM + Attention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281160" y="2240280"/>
            <a:ext cx="508000" cy="274320"/>
          </a:xfrm>
          <a:prstGeom prst="rightArrow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9875520" y="1645920"/>
            <a:ext cx="1605280" cy="1463040"/>
          </a:xfrm>
          <a:prstGeom prst="roundRect">
            <a:avLst/>
          </a:prstGeom>
          <a:noFill/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738360" y="17373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9B59B6"/>
                </a:solidFill>
                <a:latin typeface="Calibri"/>
              </a:defRPr>
            </a:pPr>
            <a:r>
              <a:t>5. Transformers</a:t>
            </a:r>
            <a:br/>
            <a:r>
              <a:t>2018–Today 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38360" y="228600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BBBBB"/>
                </a:solidFill>
                <a:latin typeface="Calibri"/>
              </a:defRPr>
            </a:pPr>
            <a:r>
              <a:t>BERT, GPT, LLMs</a:t>
            </a:r>
            <a:br/>
            <a:r>
              <a:t>RoBERTa, T5</a:t>
            </a:r>
            <a:br/>
            <a:r>
              <a:t>Current SOTA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51960" y="3392679"/>
            <a:ext cx="3688080" cy="914400"/>
          </a:xfrm>
          <a:prstGeom prst="roundRect">
            <a:avLst/>
          </a:prstGeom>
          <a:noFill/>
          <a:ln w="3175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931920" y="3432049"/>
            <a:ext cx="420624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2ECC71"/>
                </a:solidFill>
                <a:latin typeface="Calibri"/>
              </a:defRPr>
            </a:pPr>
            <a:r>
              <a:rPr dirty="0"/>
              <a:t>This Project: Classical ML + Embeddings</a:t>
            </a:r>
            <a:br>
              <a:rPr dirty="0"/>
            </a:br>
            <a:r>
              <a:rPr dirty="0"/>
              <a:t>91.2% accuracy • No GPU needed • Fully interpretable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754880"/>
            <a:ext cx="6559550" cy="14362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F39C12"/>
                </a:solidFill>
                <a:latin typeface="Calibri"/>
              </a:defRPr>
            </a:pPr>
            <a:r>
              <a:rPr dirty="0"/>
              <a:t>Why Classical ML Still Dominates in Production:</a:t>
            </a:r>
          </a:p>
          <a:p>
            <a:pPr>
              <a:spcAft>
                <a:spcPts val="400"/>
              </a:spcAft>
              <a:defRPr sz="1400" b="0">
                <a:solidFill>
                  <a:srgbClr val="BBBBBB"/>
                </a:solidFill>
                <a:latin typeface="Calibri"/>
              </a:defRPr>
            </a:pPr>
            <a:r>
              <a:rPr dirty="0"/>
              <a:t>• Efficiency — 8,000 sparse features vs BERT's 768-dim × 512 tokens per sample</a:t>
            </a:r>
          </a:p>
          <a:p>
            <a:pPr>
              <a:spcAft>
                <a:spcPts val="400"/>
              </a:spcAft>
              <a:defRPr sz="1400" b="0">
                <a:solidFill>
                  <a:srgbClr val="BBBBBB"/>
                </a:solidFill>
                <a:latin typeface="Calibri"/>
              </a:defRPr>
            </a:pPr>
            <a:r>
              <a:rPr dirty="0"/>
              <a:t>• Interpretability — You can explain exactly WHY a headline was classified as fake</a:t>
            </a:r>
          </a:p>
          <a:p>
            <a:pPr>
              <a:spcAft>
                <a:spcPts val="400"/>
              </a:spcAft>
              <a:defRPr sz="1400" b="0">
                <a:solidFill>
                  <a:srgbClr val="BBBBBB"/>
                </a:solidFill>
                <a:latin typeface="Calibri"/>
              </a:defRPr>
            </a:pPr>
            <a:r>
              <a:rPr dirty="0"/>
              <a:t>• Speed — Trains in seconds on CPU; inference in microseconds per headline</a:t>
            </a:r>
          </a:p>
          <a:p>
            <a:pPr>
              <a:spcAft>
                <a:spcPts val="400"/>
              </a:spcAft>
              <a:defRPr sz="1400" b="0">
                <a:solidFill>
                  <a:srgbClr val="BBBBBB"/>
                </a:solidFill>
                <a:latin typeface="Calibri"/>
              </a:defRPr>
            </a:pPr>
            <a:r>
              <a:rPr dirty="0"/>
              <a:t>• Cost — No GPU cluster needed; runs on a $5/month cloud instance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47900" y="357228"/>
            <a:ext cx="583692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rPr dirty="0"/>
              <a:t>Problem Statement &amp;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85010" y="1204359"/>
            <a:ext cx="784987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rPr dirty="0"/>
              <a:t>Goal: Build a classifier to distinguish Fake (0) vs Real (1) news headlines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6869004"/>
              </p:ext>
            </p:extLst>
          </p:nvPr>
        </p:nvGraphicFramePr>
        <p:xfrm>
          <a:off x="1889760" y="1666191"/>
          <a:ext cx="7646670" cy="144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06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6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9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endParaRPr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Fake News (label = 0)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Real News (label = 1)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Count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~5,150 (51.5%)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~4,850 (48.5%)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Avg Words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7.2 words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8.1 words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Example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"Trump sends embarrassing New Year message"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"Fed raises interest rates by 0.25%"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Tone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Emotional, clickbait, ALL-CAPS, sensational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Factual, institutional, measured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550670" y="3501099"/>
            <a:ext cx="7513320" cy="12157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3498DB"/>
                </a:solidFill>
                <a:latin typeface="Calibri"/>
              </a:defRPr>
            </a:pPr>
            <a:r>
              <a:rPr dirty="0"/>
              <a:t>Format:  tab-separated file — &lt;label&gt;\t&lt;headline&gt;</a:t>
            </a:r>
          </a:p>
          <a:p>
            <a:pPr>
              <a:spcAft>
                <a:spcPts val="600"/>
              </a:spcAft>
              <a:defRPr sz="1400" b="0">
                <a:solidFill>
                  <a:srgbClr val="BBBBBB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Nearly balanced dataset — no severe class imbalance (we'll still test SMOTE to confirm)</a:t>
            </a:r>
          </a:p>
          <a:p>
            <a:pPr>
              <a:spcAft>
                <a:spcPts val="600"/>
              </a:spcAft>
              <a:defRPr sz="1400" b="0">
                <a:solidFill>
                  <a:srgbClr val="BBBBBB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No missing values, no duplicate headlines</a:t>
            </a:r>
          </a:p>
          <a:p>
            <a:pPr>
              <a:spcAft>
                <a:spcPts val="600"/>
              </a:spcAft>
              <a:defRPr sz="1400" b="0">
                <a:solidFill>
                  <a:srgbClr val="BBBBBB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Short text — headlines are 5–15 words, ideal for TF-IDF and Word2Vec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50670" y="5029200"/>
            <a:ext cx="7170420" cy="1371600"/>
          </a:xfrm>
          <a:prstGeom prst="roundRect">
            <a:avLst/>
          </a:prstGeom>
          <a:noFill/>
          <a:ln w="1905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824990" y="5166360"/>
            <a:ext cx="6995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600" b="1">
                <a:solidFill>
                  <a:srgbClr val="F39C12"/>
                </a:solidFill>
                <a:latin typeface="Calibri"/>
              </a:defRPr>
            </a:pPr>
            <a:r>
              <a:rPr dirty="0"/>
              <a:t>Key Challenge:</a:t>
            </a:r>
          </a:p>
          <a:p>
            <a:pPr>
              <a:spcAft>
                <a:spcPts val="300"/>
              </a:spcAft>
              <a:defRPr sz="1400" b="0">
                <a:solidFill>
                  <a:srgbClr val="BBBBBB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Fake and real headlines share vocabulary — both discuss politics, Trump, White House...</a:t>
            </a:r>
          </a:p>
          <a:p>
            <a:pPr>
              <a:spcAft>
                <a:spcPts val="300"/>
              </a:spcAft>
              <a:defRPr sz="1400" b="0">
                <a:solidFill>
                  <a:srgbClr val="BBBBBB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Classification must rely on subtle linguistic patterns, not obvious keywords.</a:t>
            </a:r>
          </a:p>
          <a:p>
            <a:pPr>
              <a:spcAft>
                <a:spcPts val="300"/>
              </a:spcAft>
              <a:defRPr sz="1400" b="0">
                <a:solidFill>
                  <a:srgbClr val="BBBBBB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This is why simple keyword-matching (Era 1) fails — we need statistical feature extraction.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539496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Text Preprocessing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59842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BBBB"/>
                </a:solidFill>
                <a:latin typeface="Calibri"/>
              </a:defRPr>
            </a:pPr>
            <a:r>
              <a:t>Every decision here impacts final accuracy — this is the critical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3550" y="1554480"/>
            <a:ext cx="1151889" cy="1017270"/>
          </a:xfrm>
          <a:prstGeom prst="roundRect">
            <a:avLst/>
          </a:prstGeom>
          <a:noFill/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1627632"/>
            <a:ext cx="1234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74C3C"/>
                </a:solidFill>
                <a:latin typeface="Calibri"/>
              </a:defRPr>
            </a:pPr>
            <a:r>
              <a:t>1. Lowercase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103120"/>
            <a:ext cx="1234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BBBBB"/>
                </a:solidFill>
                <a:latin typeface="Calibri"/>
              </a:defRPr>
            </a:pPr>
            <a:r>
              <a:t>"Trump" → "trump"</a:t>
            </a:r>
          </a:p>
        </p:txBody>
      </p:sp>
      <p:sp>
        <p:nvSpPr>
          <p:cNvPr id="9" name="Right Arrow 8"/>
          <p:cNvSpPr/>
          <p:nvPr/>
        </p:nvSpPr>
        <p:spPr>
          <a:xfrm>
            <a:off x="1691640" y="2011680"/>
            <a:ext cx="264160" cy="228600"/>
          </a:xfrm>
          <a:prstGeom prst="rightArrow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1965960" y="1554480"/>
            <a:ext cx="1051560" cy="1017270"/>
          </a:xfrm>
          <a:prstGeom prst="roundRect">
            <a:avLst/>
          </a:prstGeom>
          <a:noFill/>
          <a:ln w="1905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874519" y="1627632"/>
            <a:ext cx="1234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39C12"/>
                </a:solidFill>
                <a:latin typeface="Calibri"/>
              </a:defRPr>
            </a:pPr>
            <a:r>
              <a:t>2. Remove</a:t>
            </a:r>
            <a:br/>
            <a:r>
              <a:t>URLs/HTML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103120"/>
            <a:ext cx="1234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BBBBB"/>
                </a:solidFill>
                <a:latin typeface="Calibri"/>
              </a:defRPr>
            </a:pPr>
            <a:r>
              <a:t>regex: http...</a:t>
            </a:r>
            <a:br/>
            <a:r>
              <a:t>&lt;html&gt;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093721" y="2011680"/>
            <a:ext cx="335277" cy="228600"/>
          </a:xfrm>
          <a:prstGeom prst="rightArrow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474720" y="1554480"/>
            <a:ext cx="957580" cy="1017270"/>
          </a:xfrm>
          <a:prstGeom prst="roundRect">
            <a:avLst/>
          </a:prstGeom>
          <a:noFill/>
          <a:ln w="1905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337560" y="1627632"/>
            <a:ext cx="1234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ECC71"/>
                </a:solidFill>
                <a:latin typeface="Calibri"/>
              </a:defRPr>
            </a:pPr>
            <a:r>
              <a:t>3. Remove</a:t>
            </a:r>
            <a:br/>
            <a:r>
              <a:t>Punctuation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2103120"/>
            <a:ext cx="1234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BBBBB"/>
                </a:solidFill>
                <a:latin typeface="Calibri"/>
              </a:defRPr>
            </a:pPr>
            <a:r>
              <a:t>[^a-zA-Z\s]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478019" y="2011680"/>
            <a:ext cx="353061" cy="228600"/>
          </a:xfrm>
          <a:prstGeom prst="rightArrow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937760" y="1554480"/>
            <a:ext cx="904240" cy="1017270"/>
          </a:xfrm>
          <a:prstGeom prst="roundRect">
            <a:avLst/>
          </a:prstGeom>
          <a:noFill/>
          <a:ln w="1905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00600" y="1627632"/>
            <a:ext cx="1234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498DB"/>
                </a:solidFill>
                <a:latin typeface="Calibri"/>
              </a:defRPr>
            </a:pPr>
            <a:r>
              <a:t>4. Remove</a:t>
            </a:r>
            <a:br/>
            <a:r>
              <a:t>Numbers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2103120"/>
            <a:ext cx="1234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BBBBB"/>
                </a:solidFill>
                <a:latin typeface="Calibri"/>
              </a:defRPr>
            </a:pPr>
            <a:r>
              <a:t>r"\d+"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5928361" y="2011680"/>
            <a:ext cx="289559" cy="228600"/>
          </a:xfrm>
          <a:prstGeom prst="rightArrow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309360" y="1554480"/>
            <a:ext cx="1178560" cy="1017270"/>
          </a:xfrm>
          <a:prstGeom prst="roundRect">
            <a:avLst/>
          </a:prstGeom>
          <a:noFill/>
          <a:ln w="1905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63640" y="1627632"/>
            <a:ext cx="1234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9B59B6"/>
                </a:solidFill>
                <a:latin typeface="Calibri"/>
              </a:defRPr>
            </a:pPr>
            <a:r>
              <a:t>5. Tokenize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2103120"/>
            <a:ext cx="1234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BBBBB"/>
                </a:solidFill>
                <a:latin typeface="Calibri"/>
              </a:defRPr>
            </a:pPr>
            <a:r>
              <a:t>nltk.word_tokenize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543800" y="2011680"/>
            <a:ext cx="218440" cy="228600"/>
          </a:xfrm>
          <a:prstGeom prst="rightArrow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7818120" y="1554480"/>
            <a:ext cx="1051560" cy="1017270"/>
          </a:xfrm>
          <a:prstGeom prst="roundRect">
            <a:avLst/>
          </a:prstGeom>
          <a:noFill/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726680" y="1627632"/>
            <a:ext cx="1234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74C3C"/>
                </a:solidFill>
                <a:latin typeface="Calibri"/>
              </a:defRPr>
            </a:pPr>
            <a:r>
              <a:t>6. Remove</a:t>
            </a:r>
            <a:br/>
            <a:r>
              <a:t>Stopwords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26680" y="2103120"/>
            <a:ext cx="1234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BBBBB"/>
                </a:solidFill>
                <a:latin typeface="Calibri"/>
              </a:defRPr>
            </a:pPr>
            <a:r>
              <a:t>the, a, is, said...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8961121" y="2011680"/>
            <a:ext cx="243839" cy="228600"/>
          </a:xfrm>
          <a:prstGeom prst="rightArrow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9281160" y="1554480"/>
            <a:ext cx="1036321" cy="1017270"/>
          </a:xfrm>
          <a:prstGeom prst="roundRect">
            <a:avLst/>
          </a:prstGeom>
          <a:noFill/>
          <a:ln w="1905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189720" y="1627632"/>
            <a:ext cx="1234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39C12"/>
                </a:solidFill>
                <a:latin typeface="Calibri"/>
              </a:defRPr>
            </a:pPr>
            <a:r>
              <a:t>7. Lemmatize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20" y="2103120"/>
            <a:ext cx="1234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BBBBB"/>
                </a:solidFill>
                <a:latin typeface="Calibri"/>
              </a:defRPr>
            </a:pPr>
            <a:r>
              <a:t>running → run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10424160" y="2011680"/>
            <a:ext cx="213359" cy="228600"/>
          </a:xfrm>
          <a:prstGeom prst="rightArrow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10698480" y="1554480"/>
            <a:ext cx="1188720" cy="1042416"/>
          </a:xfrm>
          <a:prstGeom prst="roundRect">
            <a:avLst/>
          </a:prstGeom>
          <a:noFill/>
          <a:ln w="1905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652760" y="1627632"/>
            <a:ext cx="1234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ECC71"/>
                </a:solidFill>
                <a:latin typeface="Calibri"/>
              </a:defRPr>
            </a:pPr>
            <a:r>
              <a:t>8. Cleaned</a:t>
            </a:r>
            <a:br/>
            <a:r>
              <a:t>Text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52760" y="2103120"/>
            <a:ext cx="1234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BBBBB"/>
                </a:solidFill>
                <a:latin typeface="Calibri"/>
              </a:defRPr>
            </a:pPr>
            <a:r>
              <a:t>Ready for features!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5304070"/>
              </p:ext>
            </p:extLst>
          </p:nvPr>
        </p:nvGraphicFramePr>
        <p:xfrm>
          <a:off x="1253491" y="3368688"/>
          <a:ext cx="9349740" cy="18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44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080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67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8912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Step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Technique &amp; Code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Why This Matters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912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Stopwords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NLTK + custom: {'said', 'says', 'new', 'us', 'would'}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News-specific: 'said' appears everywhere, adds zero signal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912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Lemmatization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 err="1"/>
                        <a:t>WordNetLemmatizer</a:t>
                      </a:r>
                      <a:r>
                        <a:rPr dirty="0"/>
                        <a:t> — reduces to base form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Better than stemming for news: '</a:t>
                      </a:r>
                      <a:r>
                        <a:rPr dirty="0" err="1"/>
                        <a:t>running'→'run</a:t>
                      </a:r>
                      <a:r>
                        <a:rPr dirty="0"/>
                        <a:t>' not '</a:t>
                      </a:r>
                      <a:r>
                        <a:rPr dirty="0" err="1"/>
                        <a:t>runn</a:t>
                      </a:r>
                      <a:r>
                        <a:rPr dirty="0"/>
                        <a:t>'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8912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Min Word Length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Keep words with len &gt; 2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Filters noise: 'a', 'an', 'at', 'be', 'go'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8912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Empty Handling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Fill empty texts with 'empty' placeholder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Prevents </a:t>
                      </a:r>
                      <a:r>
                        <a:rPr dirty="0" err="1"/>
                        <a:t>NaN</a:t>
                      </a:r>
                      <a:r>
                        <a:rPr dirty="0"/>
                        <a:t> errors in vectorization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640080" y="5760720"/>
            <a:ext cx="660527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0">
                <a:solidFill>
                  <a:srgbClr val="888888"/>
                </a:solidFill>
                <a:latin typeface="Calibri"/>
              </a:defRPr>
            </a:pPr>
            <a:r>
              <a:rPr dirty="0"/>
              <a:t>Before:  "Donald Trump SENDS OUT embarrassing New Year's Eve message — THIS is disturbing!!!"</a:t>
            </a:r>
          </a:p>
          <a:p>
            <a:pPr>
              <a:spcAft>
                <a:spcPts val="200"/>
              </a:spcAft>
              <a:defRPr sz="1200" b="1">
                <a:solidFill>
                  <a:srgbClr val="2ECC71"/>
                </a:solidFill>
                <a:latin typeface="Calibri"/>
              </a:defRPr>
            </a:pPr>
            <a:r>
              <a:rPr dirty="0"/>
              <a:t>After:    "</a:t>
            </a:r>
            <a:r>
              <a:rPr dirty="0" err="1"/>
              <a:t>donald</a:t>
            </a:r>
            <a:r>
              <a:rPr dirty="0"/>
              <a:t> trump send embarrassing new year eve message disturbing"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502920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rPr dirty="0"/>
              <a:t>Exploratory Data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47625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BBBB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Word clouds, N-grams, and text length distributions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74C3C"/>
                </a:solidFill>
                <a:latin typeface="Calibri"/>
              </a:defRPr>
            </a:pPr>
            <a:r>
              <a:rPr dirty="0"/>
              <a:t>Fake News Top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  <a:latin typeface="Calibri"/>
              </a:defRPr>
            </a:pPr>
            <a:r>
              <a:rPr dirty="0"/>
              <a:t>Real News Top Words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32232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BBBB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trump • video • watch • </a:t>
            </a:r>
            <a:r>
              <a:rPr dirty="0" err="1">
                <a:solidFill>
                  <a:schemeClr val="bg1"/>
                </a:solidFill>
              </a:rPr>
              <a:t>obama</a:t>
            </a:r>
            <a:r>
              <a:rPr dirty="0">
                <a:solidFill>
                  <a:schemeClr val="bg1"/>
                </a:solidFill>
              </a:rPr>
              <a:t> • police</a:t>
            </a: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chemeClr val="bg1"/>
                </a:solidFill>
              </a:rPr>
              <a:t>black • racist • </a:t>
            </a:r>
            <a:r>
              <a:rPr dirty="0" err="1">
                <a:solidFill>
                  <a:schemeClr val="bg1"/>
                </a:solidFill>
              </a:rPr>
              <a:t>donald</a:t>
            </a:r>
            <a:r>
              <a:rPr dirty="0">
                <a:solidFill>
                  <a:schemeClr val="bg1"/>
                </a:solidFill>
              </a:rPr>
              <a:t> • president • like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37360"/>
            <a:ext cx="310515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BBBB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trump • north • </a:t>
            </a:r>
            <a:r>
              <a:rPr dirty="0" err="1">
                <a:solidFill>
                  <a:schemeClr val="bg1"/>
                </a:solidFill>
              </a:rPr>
              <a:t>korea</a:t>
            </a:r>
            <a:r>
              <a:rPr dirty="0">
                <a:solidFill>
                  <a:schemeClr val="bg1"/>
                </a:solidFill>
              </a:rPr>
              <a:t> • house • </a:t>
            </a:r>
            <a:r>
              <a:rPr dirty="0" err="1">
                <a:solidFill>
                  <a:schemeClr val="bg1"/>
                </a:solidFill>
              </a:rPr>
              <a:t>china</a:t>
            </a:r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chemeClr val="bg1"/>
                </a:solidFill>
              </a:rPr>
              <a:t>president • white • new • state • says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93320"/>
            <a:ext cx="7132320" cy="1579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000" b="1">
                <a:solidFill>
                  <a:srgbClr val="F39C12"/>
                </a:solidFill>
                <a:latin typeface="Calibri"/>
              </a:defRPr>
            </a:pPr>
            <a:r>
              <a:rPr dirty="0"/>
              <a:t>Key EDA Findings:</a:t>
            </a:r>
          </a:p>
          <a:p>
            <a:pPr>
              <a:spcAft>
                <a:spcPts val="500"/>
              </a:spcAft>
              <a:defRPr sz="1500" b="0">
                <a:solidFill>
                  <a:srgbClr val="BBBBBB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• Fake &amp; Real share vocabulary heavily (both discuss Trump, White House, politics)</a:t>
            </a:r>
          </a:p>
          <a:p>
            <a:pPr>
              <a:spcAft>
                <a:spcPts val="500"/>
              </a:spcAft>
              <a:defRPr sz="1500" b="0">
                <a:solidFill>
                  <a:srgbClr val="BBBBBB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• Fake headlines use emotional/clickbait: 'watch', 'video', 'breaking', 'this is disturbing'</a:t>
            </a:r>
          </a:p>
          <a:p>
            <a:pPr>
              <a:spcAft>
                <a:spcPts val="500"/>
              </a:spcAft>
              <a:defRPr sz="1500" b="0">
                <a:solidFill>
                  <a:srgbClr val="BBBBBB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• Real headlines use institutional terms: 'senate', 'republican', 'administration'</a:t>
            </a:r>
          </a:p>
          <a:p>
            <a:pPr>
              <a:spcAft>
                <a:spcPts val="500"/>
              </a:spcAft>
              <a:defRPr sz="1500" b="0">
                <a:solidFill>
                  <a:srgbClr val="BBBBBB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• Bigram 'white house' appears in BOTH — no single word is a reliable signal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6774678"/>
              </p:ext>
            </p:extLst>
          </p:nvPr>
        </p:nvGraphicFramePr>
        <p:xfrm>
          <a:off x="640080" y="4511040"/>
          <a:ext cx="8243570" cy="1158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2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810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02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Metric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Fake News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Real News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Avg Word Count (cleaned)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~5.2 words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~5.8 words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Avg Char Count (original)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~45 chars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~52 chars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Top Bigrams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white house, north korea, donald trump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white house, united states, north </a:t>
                      </a:r>
                      <a:r>
                        <a:rPr dirty="0" err="1"/>
                        <a:t>korea</a:t>
                      </a:r>
                      <a:endParaRPr dirty="0"/>
                    </a:p>
                  </a:txBody>
                  <a:tcPr>
                    <a:solidFill>
                      <a:srgbClr val="1616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5760720"/>
            <a:ext cx="886587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F39C12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Implication: Classification must learn subtle distributional differences, not obvious keywords.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812292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rPr dirty="0"/>
              <a:t>Feature Extraction — TF-IDF (Bag-of-Words)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9447" y="1117126"/>
            <a:ext cx="581787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BBBB"/>
                </a:solidFill>
                <a:latin typeface="Calibri"/>
              </a:defRPr>
            </a:pPr>
            <a:r>
              <a:rPr dirty="0"/>
              <a:t>Term Frequency × Inverse Document Frequency with N-grams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9567" y="1564165"/>
            <a:ext cx="51701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3498DB"/>
                </a:solidFill>
                <a:latin typeface="Calibri"/>
              </a:defRPr>
            </a:pPr>
            <a:r>
              <a:rPr dirty="0"/>
              <a:t>TF-IDF(t, d) = TF(</a:t>
            </a:r>
            <a:r>
              <a:rPr dirty="0" err="1"/>
              <a:t>t,d</a:t>
            </a:r>
            <a:r>
              <a:rPr dirty="0"/>
              <a:t>) × log(N / DF(t))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91017" y="2107350"/>
            <a:ext cx="847852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BBBBB"/>
                </a:solidFill>
                <a:latin typeface="Calibri"/>
              </a:defRPr>
            </a:pPr>
            <a:r>
              <a:rPr dirty="0"/>
              <a:t>Term Frequency — how often word t appears in doc d    ×    Inverse Document Frequency — how rare is t across all docs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67" y="2510770"/>
            <a:ext cx="7746683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rPr dirty="0"/>
              <a:t>Configuration:</a:t>
            </a:r>
          </a:p>
          <a:p>
            <a:pPr>
              <a:spcAft>
                <a:spcPts val="300"/>
              </a:spcAft>
              <a:defRPr sz="1500" b="0">
                <a:solidFill>
                  <a:srgbClr val="3498DB"/>
                </a:solidFill>
                <a:latin typeface="Calibri"/>
              </a:defRPr>
            </a:pPr>
            <a:r>
              <a:rPr dirty="0" err="1">
                <a:solidFill>
                  <a:schemeClr val="bg1"/>
                </a:solidFill>
              </a:rPr>
              <a:t>ngram_range</a:t>
            </a:r>
            <a:r>
              <a:rPr dirty="0">
                <a:solidFill>
                  <a:schemeClr val="bg1"/>
                </a:solidFill>
              </a:rPr>
              <a:t>=(1,3)  →  Unigrams + Bigrams + Trigrams  —  'white house' ≠ 'white' + 'house'</a:t>
            </a:r>
          </a:p>
          <a:p>
            <a:pPr>
              <a:spcAft>
                <a:spcPts val="300"/>
              </a:spcAft>
              <a:defRPr sz="1500" b="0">
                <a:solidFill>
                  <a:srgbClr val="3498DB"/>
                </a:solidFill>
                <a:latin typeface="Calibri"/>
              </a:defRPr>
            </a:pPr>
            <a:r>
              <a:rPr dirty="0" err="1">
                <a:solidFill>
                  <a:schemeClr val="bg1"/>
                </a:solidFill>
              </a:rPr>
              <a:t>max_features</a:t>
            </a:r>
            <a:r>
              <a:rPr dirty="0">
                <a:solidFill>
                  <a:schemeClr val="bg1"/>
                </a:solidFill>
              </a:rPr>
              <a:t>=8000  →  Limit vocabulary to top 8,000 features to control dimensionality</a:t>
            </a:r>
          </a:p>
          <a:p>
            <a:pPr>
              <a:spcAft>
                <a:spcPts val="300"/>
              </a:spcAft>
              <a:defRPr sz="1500" b="0">
                <a:solidFill>
                  <a:srgbClr val="3498DB"/>
                </a:solidFill>
                <a:latin typeface="Calibri"/>
              </a:defRPr>
            </a:pPr>
            <a:r>
              <a:rPr dirty="0" err="1">
                <a:solidFill>
                  <a:schemeClr val="bg1"/>
                </a:solidFill>
              </a:rPr>
              <a:t>min_df</a:t>
            </a:r>
            <a:r>
              <a:rPr dirty="0">
                <a:solidFill>
                  <a:schemeClr val="bg1"/>
                </a:solidFill>
              </a:rPr>
              <a:t>=3, </a:t>
            </a:r>
            <a:r>
              <a:rPr dirty="0" err="1">
                <a:solidFill>
                  <a:schemeClr val="bg1"/>
                </a:solidFill>
              </a:rPr>
              <a:t>max_df</a:t>
            </a:r>
            <a:r>
              <a:rPr dirty="0">
                <a:solidFill>
                  <a:schemeClr val="bg1"/>
                </a:solidFill>
              </a:rPr>
              <a:t>=0.85  →  Ignore very rare words (&lt;3 docs) and corpus-wide terms (&gt;85% docs)</a:t>
            </a:r>
          </a:p>
          <a:p>
            <a:pPr>
              <a:spcAft>
                <a:spcPts val="300"/>
              </a:spcAft>
              <a:defRPr sz="1500" b="0">
                <a:solidFill>
                  <a:srgbClr val="3498DB"/>
                </a:solidFill>
                <a:latin typeface="Calibri"/>
              </a:defRPr>
            </a:pPr>
            <a:r>
              <a:rPr dirty="0" err="1">
                <a:solidFill>
                  <a:schemeClr val="bg1"/>
                </a:solidFill>
              </a:rPr>
              <a:t>sublinear_tf</a:t>
            </a:r>
            <a:r>
              <a:rPr dirty="0">
                <a:solidFill>
                  <a:schemeClr val="bg1"/>
                </a:solidFill>
              </a:rPr>
              <a:t>=True  →  1 + log(</a:t>
            </a:r>
            <a:r>
              <a:rPr dirty="0" err="1">
                <a:solidFill>
                  <a:schemeClr val="bg1"/>
                </a:solidFill>
              </a:rPr>
              <a:t>tf</a:t>
            </a:r>
            <a:r>
              <a:rPr dirty="0">
                <a:solidFill>
                  <a:schemeClr val="bg1"/>
                </a:solidFill>
              </a:rPr>
              <a:t>) — dampens effect of high-frequency words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94117" y="4105284"/>
            <a:ext cx="3830320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F39C12"/>
                </a:solidFill>
                <a:latin typeface="Calibri"/>
              </a:defRPr>
            </a:pPr>
            <a:r>
              <a:rPr dirty="0"/>
              <a:t>Why N-grams (1,3)?</a:t>
            </a:r>
          </a:p>
          <a:p>
            <a:pPr>
              <a:spcAft>
                <a:spcPts val="200"/>
              </a:spcAft>
              <a:defRPr sz="600" b="0">
                <a:solidFill>
                  <a:srgbClr val="BBBBBB"/>
                </a:solidFill>
                <a:latin typeface="Calibri"/>
              </a:defRPr>
            </a:pPr>
            <a:endParaRPr dirty="0"/>
          </a:p>
          <a:p>
            <a:pPr>
              <a:spcAft>
                <a:spcPts val="200"/>
              </a:spcAft>
              <a:defRPr sz="1400" b="1">
                <a:solidFill>
                  <a:srgbClr val="BBBBBB"/>
                </a:solidFill>
                <a:latin typeface="Calibri"/>
              </a:defRPr>
            </a:pPr>
            <a:r>
              <a:rPr dirty="0"/>
              <a:t>Without n-grams:</a:t>
            </a:r>
          </a:p>
          <a:p>
            <a:pPr>
              <a:spcAft>
                <a:spcPts val="200"/>
              </a:spcAft>
              <a:defRPr sz="1300" b="0">
                <a:solidFill>
                  <a:srgbClr val="BBBBBB"/>
                </a:solidFill>
                <a:latin typeface="Calibri"/>
              </a:defRPr>
            </a:pPr>
            <a:r>
              <a:rPr dirty="0"/>
              <a:t>  "white" + "house" → two separate features</a:t>
            </a:r>
          </a:p>
          <a:p>
            <a:pPr>
              <a:spcAft>
                <a:spcPts val="200"/>
              </a:spcAft>
              <a:defRPr sz="1300" b="0">
                <a:solidFill>
                  <a:srgbClr val="BBBBBB"/>
                </a:solidFill>
                <a:latin typeface="Calibri"/>
              </a:defRPr>
            </a:pPr>
            <a:r>
              <a:rPr dirty="0"/>
              <a:t>  "north" + "</a:t>
            </a:r>
            <a:r>
              <a:rPr dirty="0" err="1"/>
              <a:t>korea</a:t>
            </a:r>
            <a:r>
              <a:rPr dirty="0"/>
              <a:t>" → no connection</a:t>
            </a:r>
          </a:p>
          <a:p>
            <a:pPr>
              <a:spcAft>
                <a:spcPts val="200"/>
              </a:spcAft>
              <a:defRPr sz="600" b="0">
                <a:solidFill>
                  <a:srgbClr val="BBBBBB"/>
                </a:solidFill>
                <a:latin typeface="Calibri"/>
              </a:defRPr>
            </a:pPr>
            <a:endParaRPr dirty="0"/>
          </a:p>
          <a:p>
            <a:pPr>
              <a:spcAft>
                <a:spcPts val="200"/>
              </a:spcAft>
              <a:defRPr sz="1400" b="1">
                <a:solidFill>
                  <a:srgbClr val="2ECC71"/>
                </a:solidFill>
                <a:latin typeface="Calibri"/>
              </a:defRPr>
            </a:pPr>
            <a:r>
              <a:rPr dirty="0"/>
              <a:t>With n-grams:</a:t>
            </a:r>
          </a:p>
          <a:p>
            <a:pPr>
              <a:spcAft>
                <a:spcPts val="200"/>
              </a:spcAft>
              <a:defRPr sz="1300" b="0">
                <a:solidFill>
                  <a:srgbClr val="2ECC71"/>
                </a:solidFill>
                <a:latin typeface="Calibri"/>
              </a:defRPr>
            </a:pPr>
            <a:r>
              <a:rPr dirty="0"/>
              <a:t>  "white house" → one feature (The White House)</a:t>
            </a:r>
          </a:p>
          <a:p>
            <a:pPr>
              <a:spcAft>
                <a:spcPts val="200"/>
              </a:spcAft>
              <a:defRPr sz="1300" b="0">
                <a:solidFill>
                  <a:srgbClr val="2ECC71"/>
                </a:solidFill>
                <a:latin typeface="Calibri"/>
              </a:defRPr>
            </a:pPr>
            <a:r>
              <a:rPr dirty="0"/>
              <a:t>  "north </a:t>
            </a:r>
            <a:r>
              <a:rPr dirty="0" err="1"/>
              <a:t>korea</a:t>
            </a:r>
            <a:r>
              <a:rPr dirty="0"/>
              <a:t>" → one feature (the country)</a:t>
            </a:r>
          </a:p>
          <a:p>
            <a:pPr>
              <a:spcAft>
                <a:spcPts val="200"/>
              </a:spcAft>
              <a:defRPr sz="1300" b="0">
                <a:solidFill>
                  <a:srgbClr val="2ECC71"/>
                </a:solidFill>
                <a:latin typeface="Calibri"/>
              </a:defRPr>
            </a:pPr>
            <a:r>
              <a:rPr dirty="0"/>
              <a:t>  "</a:t>
            </a:r>
            <a:r>
              <a:rPr dirty="0" err="1"/>
              <a:t>donald</a:t>
            </a:r>
            <a:r>
              <a:rPr dirty="0"/>
              <a:t> trump </a:t>
            </a:r>
            <a:r>
              <a:rPr dirty="0" err="1"/>
              <a:t>jr</a:t>
            </a:r>
            <a:r>
              <a:rPr dirty="0"/>
              <a:t>" → one feature (specific person)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02462" y="4171970"/>
            <a:ext cx="3521075" cy="20826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rPr dirty="0"/>
              <a:t>Result:</a:t>
            </a:r>
          </a:p>
          <a:p>
            <a:pPr>
              <a:spcAft>
                <a:spcPts val="200"/>
              </a:spcAft>
              <a:defRPr sz="600" b="0">
                <a:solidFill>
                  <a:srgbClr val="BBBBBB"/>
                </a:solidFill>
                <a:latin typeface="Calibri"/>
              </a:defRPr>
            </a:pPr>
            <a:endParaRPr dirty="0"/>
          </a:p>
          <a:p>
            <a:pPr>
              <a:spcAft>
                <a:spcPts val="200"/>
              </a:spcAft>
              <a:defRPr sz="1400" b="0">
                <a:solidFill>
                  <a:srgbClr val="BBBBBB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Training matrix: 8,000+ rows × 8,000 cols</a:t>
            </a:r>
          </a:p>
          <a:p>
            <a:pPr>
              <a:spcAft>
                <a:spcPts val="200"/>
              </a:spcAft>
              <a:defRPr sz="1400" b="0">
                <a:solidFill>
                  <a:srgbClr val="BBBBBB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Vocabulary size: 8,000 terms/</a:t>
            </a:r>
            <a:r>
              <a:rPr dirty="0" err="1">
                <a:solidFill>
                  <a:schemeClr val="bg1"/>
                </a:solidFill>
              </a:rPr>
              <a:t>ngrams</a:t>
            </a:r>
            <a:endParaRPr dirty="0">
              <a:solidFill>
                <a:schemeClr val="bg1"/>
              </a:solidFill>
            </a:endParaRPr>
          </a:p>
          <a:p>
            <a:pPr>
              <a:spcAft>
                <a:spcPts val="200"/>
              </a:spcAft>
              <a:defRPr sz="1400" b="0">
                <a:solidFill>
                  <a:srgbClr val="BBBBBB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Sparsity: ~0.12% non-zero (highly sparse)</a:t>
            </a:r>
          </a:p>
          <a:p>
            <a:pPr>
              <a:spcAft>
                <a:spcPts val="200"/>
              </a:spcAft>
              <a:defRPr sz="800" b="0">
                <a:solidFill>
                  <a:srgbClr val="BBBBBB"/>
                </a:solidFill>
                <a:latin typeface="Calibri"/>
              </a:defRPr>
            </a:pPr>
            <a:endParaRPr dirty="0">
              <a:solidFill>
                <a:schemeClr val="bg1"/>
              </a:solidFill>
            </a:endParaRPr>
          </a:p>
          <a:p>
            <a:pPr>
              <a:spcAft>
                <a:spcPts val="200"/>
              </a:spcAft>
              <a:defRPr sz="1400" b="0">
                <a:solidFill>
                  <a:srgbClr val="888888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Each row = one headline vectorized</a:t>
            </a:r>
          </a:p>
          <a:p>
            <a:pPr>
              <a:spcAft>
                <a:spcPts val="200"/>
              </a:spcAft>
              <a:defRPr sz="1400" b="0">
                <a:solidFill>
                  <a:srgbClr val="888888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Each column = one TF-IDF weighted term</a:t>
            </a:r>
          </a:p>
          <a:p>
            <a:pPr>
              <a:spcAft>
                <a:spcPts val="200"/>
              </a:spcAft>
              <a:defRPr sz="1400" b="0">
                <a:solidFill>
                  <a:srgbClr val="888888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Most values are 0.0 (sparse matrix)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76452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rPr dirty="0"/>
              <a:t>Feature Extraction — Word2Vec Embeddings (Comparison)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09570" y="815735"/>
            <a:ext cx="59766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BBBB"/>
                </a:solidFill>
                <a:latin typeface="Calibri"/>
              </a:defRPr>
            </a:pPr>
            <a:r>
              <a:rPr dirty="0"/>
              <a:t>Dense semantic vectors trained on the headline corpus itself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5486400" cy="1715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Word2Vec Configuration:</a:t>
            </a:r>
          </a:p>
          <a:p>
            <a:pPr>
              <a:spcAft>
                <a:spcPts val="300"/>
              </a:spcAft>
              <a:defRPr sz="1500" b="0">
                <a:solidFill>
                  <a:srgbClr val="2ECC71"/>
                </a:solidFill>
                <a:latin typeface="Calibri"/>
              </a:defRPr>
            </a:pPr>
            <a:r>
              <a:rPr dirty="0" err="1">
                <a:solidFill>
                  <a:schemeClr val="bg1"/>
                </a:solidFill>
              </a:rPr>
              <a:t>vector_size</a:t>
            </a:r>
            <a:r>
              <a:rPr dirty="0">
                <a:solidFill>
                  <a:schemeClr val="bg1"/>
                </a:solidFill>
              </a:rPr>
              <a:t>=200    →  200-dimensional dense vectors</a:t>
            </a:r>
          </a:p>
          <a:p>
            <a:pPr>
              <a:spcAft>
                <a:spcPts val="300"/>
              </a:spcAft>
              <a:defRPr sz="1500" b="0">
                <a:solidFill>
                  <a:srgbClr val="2ECC71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window=5           →  Context window of 5 words around target</a:t>
            </a:r>
          </a:p>
          <a:p>
            <a:pPr>
              <a:spcAft>
                <a:spcPts val="300"/>
              </a:spcAft>
              <a:defRPr sz="1500" b="0">
                <a:solidFill>
                  <a:srgbClr val="2ECC71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sg=1 (Skip-gram)   →  Better than CBOW for small datasets</a:t>
            </a:r>
          </a:p>
          <a:p>
            <a:pPr>
              <a:spcAft>
                <a:spcPts val="300"/>
              </a:spcAft>
              <a:defRPr sz="1500" b="0">
                <a:solidFill>
                  <a:srgbClr val="2ECC71"/>
                </a:solidFill>
                <a:latin typeface="Calibri"/>
              </a:defRPr>
            </a:pPr>
            <a:r>
              <a:rPr dirty="0" err="1">
                <a:solidFill>
                  <a:schemeClr val="bg1"/>
                </a:solidFill>
              </a:rPr>
              <a:t>min_count</a:t>
            </a:r>
            <a:r>
              <a:rPr dirty="0">
                <a:solidFill>
                  <a:schemeClr val="bg1"/>
                </a:solidFill>
              </a:rPr>
              <a:t>=2        →  Ignore words appearing only once</a:t>
            </a:r>
          </a:p>
          <a:p>
            <a:pPr>
              <a:spcAft>
                <a:spcPts val="300"/>
              </a:spcAft>
              <a:defRPr sz="1500" b="0">
                <a:solidFill>
                  <a:srgbClr val="2ECC71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epochs=20          →  Multiple passes over the corpus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Document Vector: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73736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498DB"/>
                </a:solidFill>
                <a:latin typeface="Calibri"/>
              </a:defRPr>
            </a:pPr>
            <a:r>
              <a:t>doc_vec = average( word_vec(w₁),</a:t>
            </a:r>
            <a:br/>
            <a:r>
              <a:t>                     word_vec(w₂),</a:t>
            </a:r>
            <a:br/>
            <a:r>
              <a:t>                     ... 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560320"/>
            <a:ext cx="2451100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  <a:latin typeface="Calibri"/>
              </a:defRPr>
            </a:pPr>
            <a:r>
              <a:rPr dirty="0"/>
              <a:t>Similar words to 'trump':</a:t>
            </a:r>
            <a:br>
              <a:rPr dirty="0"/>
            </a:br>
            <a:r>
              <a:rPr dirty="0"/>
              <a:t>  </a:t>
            </a:r>
            <a:r>
              <a:rPr dirty="0" err="1"/>
              <a:t>obama</a:t>
            </a:r>
            <a:r>
              <a:rPr dirty="0"/>
              <a:t>: 0.82  |  </a:t>
            </a:r>
            <a:r>
              <a:rPr dirty="0" err="1"/>
              <a:t>donald</a:t>
            </a:r>
            <a:r>
              <a:rPr dirty="0"/>
              <a:t>: 0.79</a:t>
            </a:r>
            <a:br>
              <a:rPr dirty="0"/>
            </a:br>
            <a:r>
              <a:rPr dirty="0"/>
              <a:t>  president: 0.74  |  </a:t>
            </a:r>
            <a:r>
              <a:rPr dirty="0" err="1"/>
              <a:t>clinton</a:t>
            </a:r>
            <a:r>
              <a:rPr dirty="0"/>
              <a:t>: 0.71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7023110"/>
              </p:ext>
            </p:extLst>
          </p:nvPr>
        </p:nvGraphicFramePr>
        <p:xfrm>
          <a:off x="1413510" y="3566160"/>
          <a:ext cx="677799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20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92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936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Aspect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TF-IDF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Word2Vec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Dimensionality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8,000 features (sparse)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200 features (dense) ✨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Semantics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❌ No — 'king' ≠ 'monarch'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✅ Yes — captures similarity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Interpretability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✅ High — see exact words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❌ Low — abstract vectors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Training Time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Seconds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~30 seconds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Accuracy (Random Forest)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91.26%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91.16%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59436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600" b="1">
                <a:solidFill>
                  <a:srgbClr val="F39C12"/>
                </a:solidFill>
                <a:latin typeface="Calibri"/>
              </a:defRPr>
            </a:pPr>
            <a:r>
              <a:t>🔥 Word2Vec matches TF-IDF accuracy with 40× fewer features! Ideal for low-latency production.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857250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rPr dirty="0"/>
              <a:t>Model Training Strategy — 3-Phase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5669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BBBB"/>
                </a:solidFill>
                <a:latin typeface="Calibri"/>
              </a:defRPr>
            </a:pPr>
            <a:r>
              <a:t>Baselines → Hyperparameter Tuning → SMOTE Balancing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5560" y="1358364"/>
            <a:ext cx="2179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498DB"/>
                </a:solidFill>
                <a:latin typeface="Calibri"/>
              </a:defRPr>
            </a:pPr>
            <a:r>
              <a:rPr dirty="0"/>
              <a:t>PHASE 1: Baselines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130589"/>
              </p:ext>
            </p:extLst>
          </p:nvPr>
        </p:nvGraphicFramePr>
        <p:xfrm>
          <a:off x="1036320" y="1769844"/>
          <a:ext cx="2717800" cy="18179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71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0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97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2573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Accuracy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F1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3431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Random Forest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~91.2%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0.912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2573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XGBoost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~88.0%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0.880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2573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Hist GB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~87.0%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0.870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2573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Gradient B.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~79.7%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0.797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759960" y="1656179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39C12"/>
                </a:solidFill>
                <a:latin typeface="Calibri"/>
              </a:defRPr>
            </a:pPr>
            <a:r>
              <a:rPr dirty="0"/>
              <a:t>PHASE 2: Hyperparameter Tuning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9960" y="2067659"/>
            <a:ext cx="286385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rPr dirty="0"/>
              <a:t>Method: </a:t>
            </a:r>
            <a:r>
              <a:rPr dirty="0" err="1"/>
              <a:t>RandomizedSearchCV</a:t>
            </a:r>
            <a:endParaRPr dirty="0"/>
          </a:p>
          <a:p>
            <a:pPr>
              <a:spcAft>
                <a:spcPts val="100"/>
              </a:spcAft>
              <a:defRPr sz="1200" b="0">
                <a:solidFill>
                  <a:srgbClr val="BBBBBB"/>
                </a:solidFill>
                <a:latin typeface="Calibri"/>
              </a:defRPr>
            </a:pPr>
            <a:r>
              <a:rPr dirty="0"/>
              <a:t>• </a:t>
            </a:r>
            <a:r>
              <a:rPr dirty="0" err="1"/>
              <a:t>n_iter</a:t>
            </a:r>
            <a:r>
              <a:rPr dirty="0"/>
              <a:t>=5 random combinations</a:t>
            </a:r>
          </a:p>
          <a:p>
            <a:pPr>
              <a:spcAft>
                <a:spcPts val="100"/>
              </a:spcAft>
              <a:defRPr sz="1200" b="0">
                <a:solidFill>
                  <a:srgbClr val="BBBBBB"/>
                </a:solidFill>
                <a:latin typeface="Calibri"/>
              </a:defRPr>
            </a:pPr>
            <a:r>
              <a:rPr dirty="0"/>
              <a:t>• cv=</a:t>
            </a:r>
            <a:r>
              <a:rPr dirty="0" err="1"/>
              <a:t>StratifiedKFold</a:t>
            </a:r>
            <a:r>
              <a:rPr dirty="0"/>
              <a:t>(2)</a:t>
            </a:r>
          </a:p>
          <a:p>
            <a:pPr>
              <a:spcAft>
                <a:spcPts val="100"/>
              </a:spcAft>
              <a:defRPr sz="1200" b="0">
                <a:solidFill>
                  <a:srgbClr val="BBBBBB"/>
                </a:solidFill>
                <a:latin typeface="Calibri"/>
              </a:defRPr>
            </a:pPr>
            <a:r>
              <a:rPr dirty="0"/>
              <a:t>• scoring='f1_macro'</a:t>
            </a:r>
          </a:p>
          <a:p>
            <a:pPr>
              <a:spcAft>
                <a:spcPts val="100"/>
              </a:spcAft>
              <a:defRPr sz="400" b="0">
                <a:solidFill>
                  <a:srgbClr val="BBBBBB"/>
                </a:solidFill>
                <a:latin typeface="Calibri"/>
              </a:defRPr>
            </a:pPr>
            <a:endParaRPr dirty="0"/>
          </a:p>
          <a:p>
            <a:pPr>
              <a:spcAft>
                <a:spcPts val="100"/>
              </a:spcAft>
              <a:defRPr sz="1300" b="1">
                <a:solidFill>
                  <a:srgbClr val="F39C12"/>
                </a:solidFill>
                <a:latin typeface="Calibri"/>
              </a:defRPr>
            </a:pPr>
            <a:r>
              <a:rPr dirty="0"/>
              <a:t>Why F1-macro?</a:t>
            </a:r>
          </a:p>
          <a:p>
            <a:pPr>
              <a:spcAft>
                <a:spcPts val="100"/>
              </a:spcAft>
              <a:defRPr sz="1200" b="0">
                <a:solidFill>
                  <a:srgbClr val="BBBBBB"/>
                </a:solidFill>
                <a:latin typeface="Calibri"/>
              </a:defRPr>
            </a:pPr>
            <a:r>
              <a:rPr dirty="0"/>
              <a:t>• Penalizes class favoritism</a:t>
            </a:r>
          </a:p>
          <a:p>
            <a:pPr>
              <a:spcAft>
                <a:spcPts val="100"/>
              </a:spcAft>
              <a:defRPr sz="1200" b="0">
                <a:solidFill>
                  <a:srgbClr val="BBBBBB"/>
                </a:solidFill>
                <a:latin typeface="Calibri"/>
              </a:defRPr>
            </a:pPr>
            <a:r>
              <a:rPr dirty="0"/>
              <a:t>• Balances precision &amp; recall</a:t>
            </a:r>
          </a:p>
          <a:p>
            <a:pPr>
              <a:spcAft>
                <a:spcPts val="100"/>
              </a:spcAft>
              <a:defRPr sz="1200" b="0">
                <a:solidFill>
                  <a:srgbClr val="BBBBBB"/>
                </a:solidFill>
                <a:latin typeface="Calibri"/>
              </a:defRPr>
            </a:pPr>
            <a:r>
              <a:rPr dirty="0"/>
              <a:t>• Critical when both FP and FN matter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07780" y="1724124"/>
            <a:ext cx="18211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  <a:latin typeface="Calibri"/>
              </a:defRPr>
            </a:pPr>
            <a:r>
              <a:rPr dirty="0"/>
              <a:t>PHASE 3: SMOTE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07780" y="2135604"/>
            <a:ext cx="2468880" cy="16414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rPr dirty="0"/>
              <a:t>SMOTE = Synthetic Minority</a:t>
            </a:r>
          </a:p>
          <a:p>
            <a:pPr>
              <a:spcAft>
                <a:spcPts val="10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rPr dirty="0"/>
              <a:t>Oversampling Technique</a:t>
            </a:r>
          </a:p>
          <a:p>
            <a:pPr>
              <a:spcAft>
                <a:spcPts val="100"/>
              </a:spcAft>
              <a:defRPr sz="400" b="0">
                <a:solidFill>
                  <a:srgbClr val="BBBBBB"/>
                </a:solidFill>
                <a:latin typeface="Calibri"/>
              </a:defRPr>
            </a:pPr>
            <a:endParaRPr dirty="0"/>
          </a:p>
          <a:p>
            <a:pPr>
              <a:spcAft>
                <a:spcPts val="100"/>
              </a:spcAft>
              <a:defRPr sz="1200" b="0">
                <a:solidFill>
                  <a:srgbClr val="BBBBBB"/>
                </a:solidFill>
                <a:latin typeface="Calibri"/>
              </a:defRPr>
            </a:pPr>
            <a:r>
              <a:rPr dirty="0"/>
              <a:t>Creates synthetic samples:</a:t>
            </a:r>
          </a:p>
          <a:p>
            <a:pPr>
              <a:spcAft>
                <a:spcPts val="100"/>
              </a:spcAft>
              <a:defRPr sz="1100" b="0">
                <a:solidFill>
                  <a:srgbClr val="3498DB"/>
                </a:solidFill>
                <a:latin typeface="Calibri"/>
              </a:defRPr>
            </a:pPr>
            <a:r>
              <a:rPr dirty="0" err="1"/>
              <a:t>x_new</a:t>
            </a:r>
            <a:r>
              <a:rPr dirty="0"/>
              <a:t> = </a:t>
            </a:r>
            <a:r>
              <a:rPr dirty="0" err="1"/>
              <a:t>x_i</a:t>
            </a:r>
            <a:r>
              <a:rPr dirty="0"/>
              <a:t> + λ·(</a:t>
            </a:r>
            <a:r>
              <a:rPr dirty="0" err="1"/>
              <a:t>x_neighbor</a:t>
            </a:r>
            <a:r>
              <a:rPr dirty="0"/>
              <a:t> − </a:t>
            </a:r>
            <a:r>
              <a:rPr dirty="0" err="1"/>
              <a:t>x_i</a:t>
            </a:r>
            <a:r>
              <a:rPr dirty="0"/>
              <a:t>)</a:t>
            </a:r>
          </a:p>
          <a:p>
            <a:pPr>
              <a:spcAft>
                <a:spcPts val="100"/>
              </a:spcAft>
              <a:defRPr sz="400" b="0">
                <a:solidFill>
                  <a:srgbClr val="BBBBBB"/>
                </a:solidFill>
                <a:latin typeface="Calibri"/>
              </a:defRPr>
            </a:pPr>
            <a:endParaRPr dirty="0"/>
          </a:p>
          <a:p>
            <a:pPr>
              <a:spcAft>
                <a:spcPts val="100"/>
              </a:spcAft>
              <a:defRPr sz="1300" b="1">
                <a:solidFill>
                  <a:srgbClr val="E74C3C"/>
                </a:solidFill>
                <a:latin typeface="Calibri"/>
              </a:defRPr>
            </a:pPr>
            <a:r>
              <a:rPr dirty="0"/>
              <a:t>Result: ❌ Did NOT improve</a:t>
            </a:r>
          </a:p>
          <a:p>
            <a:pPr>
              <a:spcAft>
                <a:spcPts val="100"/>
              </a:spcAft>
              <a:defRPr sz="1200" b="0">
                <a:solidFill>
                  <a:srgbClr val="BBBBBB"/>
                </a:solidFill>
                <a:latin typeface="Calibri"/>
              </a:defRPr>
            </a:pPr>
            <a:r>
              <a:rPr dirty="0"/>
              <a:t>Data already 51.5/48.5 balanced!</a:t>
            </a:r>
          </a:p>
          <a:p>
            <a:pPr>
              <a:spcAft>
                <a:spcPts val="100"/>
              </a:spcAft>
              <a:defRPr sz="1200" b="0">
                <a:solidFill>
                  <a:srgbClr val="BBBBBB"/>
                </a:solidFill>
                <a:latin typeface="Calibri"/>
              </a:defRPr>
            </a:pPr>
            <a:r>
              <a:rPr dirty="0"/>
              <a:t>Lesson: Always verify imbalance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4014738"/>
            <a:ext cx="3703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rPr dirty="0"/>
              <a:t>Hyperparameters Tuned per Model: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7781092"/>
              </p:ext>
            </p:extLst>
          </p:nvPr>
        </p:nvGraphicFramePr>
        <p:xfrm>
          <a:off x="640080" y="4481830"/>
          <a:ext cx="109728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16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411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Parameters Tuned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Random Forest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 err="1"/>
                        <a:t>n_estimators</a:t>
                      </a:r>
                      <a:r>
                        <a:rPr dirty="0"/>
                        <a:t>: [100,200,300], </a:t>
                      </a:r>
                      <a:r>
                        <a:rPr dirty="0" err="1"/>
                        <a:t>max_depth</a:t>
                      </a:r>
                      <a:r>
                        <a:rPr dirty="0"/>
                        <a:t>: [None,20,50], </a:t>
                      </a:r>
                      <a:r>
                        <a:rPr dirty="0" err="1"/>
                        <a:t>min_samples_split</a:t>
                      </a:r>
                      <a:r>
                        <a:rPr dirty="0"/>
                        <a:t>: [2,10], </a:t>
                      </a:r>
                      <a:r>
                        <a:rPr dirty="0" err="1"/>
                        <a:t>min_samples_leaf</a:t>
                      </a:r>
                      <a:r>
                        <a:rPr dirty="0"/>
                        <a:t>: [1,4], </a:t>
                      </a:r>
                      <a:r>
                        <a:rPr dirty="0" err="1"/>
                        <a:t>max_features</a:t>
                      </a:r>
                      <a:r>
                        <a:rPr dirty="0"/>
                        <a:t>: ['sqrt','log2']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XGBoost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 err="1"/>
                        <a:t>n_estimators</a:t>
                      </a:r>
                      <a:r>
                        <a:rPr dirty="0"/>
                        <a:t>: [100,200,300], </a:t>
                      </a:r>
                      <a:r>
                        <a:rPr dirty="0" err="1"/>
                        <a:t>max_depth</a:t>
                      </a:r>
                      <a:r>
                        <a:rPr dirty="0"/>
                        <a:t>: [3,5,9], </a:t>
                      </a:r>
                      <a:r>
                        <a:rPr dirty="0" err="1"/>
                        <a:t>learning_rate</a:t>
                      </a:r>
                      <a:r>
                        <a:rPr dirty="0"/>
                        <a:t>: [0.01,0.1,0.2], subsample: [0.6,0.8,1.0], gamma: [0,0.1]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Hist GB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 err="1"/>
                        <a:t>max_iter</a:t>
                      </a:r>
                      <a:r>
                        <a:rPr dirty="0"/>
                        <a:t>: [100,200,300], </a:t>
                      </a:r>
                      <a:r>
                        <a:rPr dirty="0" err="1"/>
                        <a:t>learning_rate</a:t>
                      </a:r>
                      <a:r>
                        <a:rPr dirty="0"/>
                        <a:t>: [0.01,0.1,0.2], </a:t>
                      </a:r>
                      <a:r>
                        <a:rPr dirty="0" err="1"/>
                        <a:t>max_depth</a:t>
                      </a:r>
                      <a:r>
                        <a:rPr dirty="0"/>
                        <a:t>: [None,10,50], l2_regularization: [0,0.5]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Gradient B.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 err="1"/>
                        <a:t>n_estimators</a:t>
                      </a:r>
                      <a:r>
                        <a:rPr dirty="0"/>
                        <a:t>: [100,200,300], </a:t>
                      </a:r>
                      <a:r>
                        <a:rPr dirty="0" err="1"/>
                        <a:t>learning_rate</a:t>
                      </a:r>
                      <a:r>
                        <a:rPr dirty="0"/>
                        <a:t>: [0.01,0.1,0.2], </a:t>
                      </a:r>
                      <a:r>
                        <a:rPr dirty="0" err="1"/>
                        <a:t>max_depth</a:t>
                      </a:r>
                      <a:r>
                        <a:rPr dirty="0"/>
                        <a:t>: [3,5,7], subsample: [0.6,1.0]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Final Results — Model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54580" y="916216"/>
            <a:ext cx="56311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BBBB"/>
                </a:solidFill>
                <a:latin typeface="Calibri"/>
              </a:defRPr>
            </a:pPr>
            <a:r>
              <a:rPr dirty="0"/>
              <a:t>TF-IDF vs Word2Vec • Baseline vs Tuned • SMOTE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699398"/>
              </p:ext>
            </p:extLst>
          </p:nvPr>
        </p:nvGraphicFramePr>
        <p:xfrm>
          <a:off x="2221230" y="1417320"/>
          <a:ext cx="6122670" cy="18042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08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59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0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03499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Rank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Features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F1-Macro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1359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1</a:t>
                      </a:r>
                      <a:endParaRPr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TF-IDF + Random Forest (Tuned)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8,000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91.26%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0.9126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49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2</a:t>
                      </a:r>
                      <a:endParaRPr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Word2Vec + Random Forest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600" b="1" u="sng" dirty="0">
                          <a:solidFill>
                            <a:srgbClr val="00B050"/>
                          </a:solidFill>
                        </a:rPr>
                        <a:t>200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91.16%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0.9114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1359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3</a:t>
                      </a:r>
                      <a:endParaRPr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TF-IDF + Hist Gradient Boosting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8,000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90.91%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0.9091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1359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TF-IDF + Gradient Boosting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8,000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90.73%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0.9073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1359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TF-IDF + XGBoost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8,000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89.28%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0.8928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281430" y="4042410"/>
            <a:ext cx="387985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rPr dirty="0"/>
              <a:t>Confusion Matrix — Best Model (RF):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1865435"/>
              </p:ext>
            </p:extLst>
          </p:nvPr>
        </p:nvGraphicFramePr>
        <p:xfrm>
          <a:off x="873760" y="4572000"/>
          <a:ext cx="469519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7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7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3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52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endParaRPr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Predicted Fake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Predicted Real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Actual Fake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89.2%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10.8% (False Positive)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Actual Real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6.7% (False Negative)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93.3%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3474720"/>
            <a:ext cx="4917440" cy="18928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2ECC71"/>
                </a:solidFill>
                <a:latin typeface="Calibri"/>
              </a:defRPr>
            </a:pPr>
            <a:r>
              <a:rPr dirty="0"/>
              <a:t>ROC-AUC: All Models &gt; 0.96</a:t>
            </a:r>
          </a:p>
          <a:p>
            <a:pPr>
              <a:spcAft>
                <a:spcPts val="300"/>
              </a:spcAft>
              <a:defRPr sz="1400" b="0">
                <a:solidFill>
                  <a:srgbClr val="BBBBBB"/>
                </a:solidFill>
                <a:latin typeface="Calibri"/>
              </a:defRPr>
            </a:pPr>
            <a:r>
              <a:rPr dirty="0"/>
              <a:t>• Excellent class separation across all models</a:t>
            </a:r>
          </a:p>
          <a:p>
            <a:pPr>
              <a:spcAft>
                <a:spcPts val="300"/>
              </a:spcAft>
              <a:defRPr sz="1400" b="0">
                <a:solidFill>
                  <a:srgbClr val="BBBBBB"/>
                </a:solidFill>
                <a:latin typeface="Calibri"/>
              </a:defRPr>
            </a:pPr>
            <a:r>
              <a:rPr dirty="0"/>
              <a:t>• Random Forest AUC: 0.971 ± 0.003</a:t>
            </a:r>
          </a:p>
          <a:p>
            <a:pPr>
              <a:spcAft>
                <a:spcPts val="300"/>
              </a:spcAft>
              <a:defRPr sz="1400" b="0">
                <a:solidFill>
                  <a:srgbClr val="BBBBBB"/>
                </a:solidFill>
                <a:latin typeface="Calibri"/>
              </a:defRPr>
            </a:pPr>
            <a:r>
              <a:rPr dirty="0"/>
              <a:t>• Gradient Boosting improved most from tuning:</a:t>
            </a:r>
          </a:p>
          <a:p>
            <a:pPr>
              <a:spcAft>
                <a:spcPts val="300"/>
              </a:spcAft>
              <a:defRPr sz="1400" b="1">
                <a:solidFill>
                  <a:srgbClr val="F39C12"/>
                </a:solidFill>
                <a:latin typeface="Calibri"/>
              </a:defRPr>
            </a:pPr>
            <a:r>
              <a:rPr dirty="0"/>
              <a:t>  Baseline F1: 0.797 → Tuned F1: 0.907 (+11%)</a:t>
            </a:r>
          </a:p>
          <a:p>
            <a:pPr>
              <a:spcAft>
                <a:spcPts val="300"/>
              </a:spcAft>
              <a:defRPr sz="1400" b="0">
                <a:solidFill>
                  <a:srgbClr val="BBBBBB"/>
                </a:solidFill>
                <a:latin typeface="Calibri"/>
              </a:defRPr>
            </a:pPr>
            <a:r>
              <a:rPr dirty="0"/>
              <a:t>• SMOTE: No gain (data already balanced)</a:t>
            </a:r>
          </a:p>
          <a:p>
            <a:pPr>
              <a:spcAft>
                <a:spcPts val="300"/>
              </a:spcAft>
              <a:defRPr sz="1400" b="0">
                <a:solidFill>
                  <a:srgbClr val="BBBBBB"/>
                </a:solidFill>
                <a:latin typeface="Calibri"/>
              </a:defRPr>
            </a:pPr>
            <a:r>
              <a:rPr dirty="0"/>
              <a:t>• Feature Selection: Best at median threshold (5,200 features)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5486400"/>
            <a:ext cx="3606800" cy="914400"/>
          </a:xfrm>
          <a:prstGeom prst="roundRect">
            <a:avLst/>
          </a:prstGeom>
          <a:noFill/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78600" y="5577840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rPr dirty="0"/>
              <a:t>Biggest Tuner: Gradient Boosting</a:t>
            </a:r>
            <a:br>
              <a:rPr dirty="0"/>
            </a:br>
            <a:r>
              <a:rPr dirty="0"/>
              <a:t>Baseline: 79.7% F1  →  Tuned: 90.7% F1</a:t>
            </a:r>
            <a:br>
              <a:rPr dirty="0"/>
            </a:br>
            <a:r>
              <a:rPr dirty="0"/>
              <a:t>Hyperparameter tuning is NOT optional!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20318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rPr dirty="0"/>
              <a:t>Feature Importance — What Makes a Headline 'Fake'?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1025"/>
            <a:ext cx="50749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BBBB"/>
                </a:solidFill>
                <a:latin typeface="Calibri"/>
              </a:defRPr>
            </a:pPr>
            <a:r>
              <a:rPr dirty="0"/>
              <a:t>Top TF-IDF features driving the Random Forest classifier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06270" y="1419860"/>
            <a:ext cx="293497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74C3C"/>
                </a:solidFill>
                <a:latin typeface="Calibri"/>
              </a:defRPr>
            </a:pPr>
            <a:r>
              <a:rPr dirty="0"/>
              <a:t>Top Features → FAKE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21450" y="1464037"/>
            <a:ext cx="2844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  <a:latin typeface="Calibri"/>
              </a:defRPr>
            </a:pPr>
            <a:r>
              <a:rPr dirty="0"/>
              <a:t>Top Features → REAL (1)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2022680"/>
              </p:ext>
            </p:extLst>
          </p:nvPr>
        </p:nvGraphicFramePr>
        <p:xfrm>
          <a:off x="2228850" y="1910140"/>
          <a:ext cx="2030730" cy="2376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10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96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7021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Feature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Importance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021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trump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0.023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7021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video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0.018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7021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watch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0.014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7021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police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0.012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7021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breaking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0.009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7021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black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0.008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7021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racist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0.007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1883649"/>
              </p:ext>
            </p:extLst>
          </p:nvPr>
        </p:nvGraphicFramePr>
        <p:xfrm>
          <a:off x="6642100" y="1967230"/>
          <a:ext cx="2603500" cy="231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3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0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9885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Feature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Importance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9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white house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0.008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9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senate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0.007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9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republican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0.007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9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administration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0.006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9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congress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0.006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9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election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0.006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9885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federal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dirty="0"/>
                        <a:t>0.005</a:t>
                      </a:r>
                    </a:p>
                  </a:txBody>
                  <a:tcPr>
                    <a:solidFill>
                      <a:srgbClr val="1616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152015" y="4788177"/>
            <a:ext cx="7125970" cy="14362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F39C12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Pattern Analysis:</a:t>
            </a:r>
          </a:p>
          <a:p>
            <a:pPr>
              <a:spcAft>
                <a:spcPts val="400"/>
              </a:spcAft>
              <a:defRPr sz="1400" b="0">
                <a:solidFill>
                  <a:srgbClr val="BBBBBB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• Fake news:  Emotional/clickbait language — 'watch', 'video', 'breaking', 'racist', 'disturbing'</a:t>
            </a:r>
          </a:p>
          <a:p>
            <a:pPr>
              <a:spcAft>
                <a:spcPts val="400"/>
              </a:spcAft>
              <a:defRPr sz="1400" b="0">
                <a:solidFill>
                  <a:srgbClr val="BBBBBB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• Real news:  Institutional/political terms — 'senate', 'congress', 'administration', 'federal'</a:t>
            </a:r>
          </a:p>
          <a:p>
            <a:pPr>
              <a:spcAft>
                <a:spcPts val="400"/>
              </a:spcAft>
              <a:defRPr sz="1400" b="0">
                <a:solidFill>
                  <a:srgbClr val="BBBBBB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• Both use 'trump' heavily — the signal is in the co-occurring words, not 'trump' alone</a:t>
            </a:r>
          </a:p>
          <a:p>
            <a:pPr>
              <a:spcAft>
                <a:spcPts val="400"/>
              </a:spcAft>
              <a:defRPr sz="1400" b="0">
                <a:solidFill>
                  <a:srgbClr val="BBBBBB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• N-grams are critical: 'white house' (bigram) is a REAL signal; 'white' alone means nothing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Key Technical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BBBB"/>
                </a:solidFill>
                <a:latin typeface="Calibri"/>
              </a:defRPr>
            </a:pPr>
            <a:r>
              <a:t>What we learned from building this classifier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6" name="Oval 5"/>
          <p:cNvSpPr/>
          <p:nvPr/>
        </p:nvSpPr>
        <p:spPr>
          <a:xfrm>
            <a:off x="2157730" y="1401705"/>
            <a:ext cx="411480" cy="41148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157730" y="1447425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6370" y="1383417"/>
            <a:ext cx="606298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E74C3C"/>
                </a:solidFill>
                <a:latin typeface="Calibri"/>
              </a:defRPr>
            </a:pPr>
            <a:r>
              <a:t>TF-IDF + Random Forest is surprisingly strong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06370" y="1694313"/>
            <a:ext cx="60629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  <a:latin typeface="Calibri"/>
              </a:defRPr>
            </a:pPr>
            <a:r>
              <a:t>91.26% accuracy on short-text classification — beats gradient boosting on this dataset</a:t>
            </a:r>
          </a:p>
        </p:txBody>
      </p:sp>
      <p:sp>
        <p:nvSpPr>
          <p:cNvPr id="10" name="Oval 9"/>
          <p:cNvSpPr/>
          <p:nvPr/>
        </p:nvSpPr>
        <p:spPr>
          <a:xfrm>
            <a:off x="2157730" y="2151513"/>
            <a:ext cx="411480" cy="41148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157730" y="2197233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06370" y="2133225"/>
            <a:ext cx="606298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ECC71"/>
                </a:solidFill>
                <a:latin typeface="Calibri"/>
              </a:defRPr>
            </a:pPr>
            <a:r>
              <a:rPr dirty="0"/>
              <a:t>Word2Vec = TF-IDF with </a:t>
            </a:r>
            <a:r>
              <a:rPr u="sng" dirty="0"/>
              <a:t>40× fewer features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6370" y="2444121"/>
            <a:ext cx="60629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  <a:latin typeface="Calibri"/>
              </a:defRPr>
            </a:pPr>
            <a:r>
              <a:t>Same accuracy (91.2%) with 200 dimensions vs 8,000 — ideal for production at scale</a:t>
            </a:r>
          </a:p>
        </p:txBody>
      </p:sp>
      <p:sp>
        <p:nvSpPr>
          <p:cNvPr id="14" name="Oval 13"/>
          <p:cNvSpPr/>
          <p:nvPr/>
        </p:nvSpPr>
        <p:spPr>
          <a:xfrm>
            <a:off x="2157730" y="2901321"/>
            <a:ext cx="411480" cy="411480"/>
          </a:xfrm>
          <a:prstGeom prst="ellipse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157730" y="2947041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06370" y="2883033"/>
            <a:ext cx="606298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3498DB"/>
                </a:solidFill>
                <a:latin typeface="Calibri"/>
              </a:defRPr>
            </a:pPr>
            <a:r>
              <a:t>N-grams capture critical phrases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06370" y="3193929"/>
            <a:ext cx="60629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  <a:latin typeface="Calibri"/>
              </a:defRPr>
            </a:pPr>
            <a:r>
              <a:t>'white house', 'north korea', 'donald trump jr' — unigrams alone would miss these</a:t>
            </a:r>
          </a:p>
        </p:txBody>
      </p:sp>
      <p:sp>
        <p:nvSpPr>
          <p:cNvPr id="18" name="Oval 17"/>
          <p:cNvSpPr/>
          <p:nvPr/>
        </p:nvSpPr>
        <p:spPr>
          <a:xfrm>
            <a:off x="2157730" y="3651129"/>
            <a:ext cx="411480" cy="411480"/>
          </a:xfrm>
          <a:prstGeom prst="ellipse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157730" y="3696849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06370" y="3632841"/>
            <a:ext cx="606298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9B59B6"/>
                </a:solidFill>
                <a:latin typeface="Calibri"/>
              </a:defRPr>
            </a:pPr>
            <a:r>
              <a:t>SMOTE didn't help — always verify first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06370" y="3943737"/>
            <a:ext cx="60629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  <a:latin typeface="Calibri"/>
              </a:defRPr>
            </a:pPr>
            <a:r>
              <a:t>Data was already balanced (51.5/48.5). Blindly applying techniques wastes time.</a:t>
            </a:r>
          </a:p>
        </p:txBody>
      </p:sp>
      <p:sp>
        <p:nvSpPr>
          <p:cNvPr id="22" name="Oval 21"/>
          <p:cNvSpPr/>
          <p:nvPr/>
        </p:nvSpPr>
        <p:spPr>
          <a:xfrm>
            <a:off x="2157730" y="4400937"/>
            <a:ext cx="411480" cy="411480"/>
          </a:xfrm>
          <a:prstGeom prst="ellipse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157730" y="4446657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06370" y="4382649"/>
            <a:ext cx="606298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39C12"/>
                </a:solidFill>
                <a:latin typeface="Calibri"/>
              </a:defRPr>
            </a:pPr>
            <a:r>
              <a:t>Hyperparameter tuning is transformative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06370" y="4693545"/>
            <a:ext cx="60629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  <a:latin typeface="Calibri"/>
              </a:defRPr>
            </a:pPr>
            <a:r>
              <a:t>Gradient Boosting jumped from 79.7% → 90.7% F1 — never skip tuning!</a:t>
            </a:r>
          </a:p>
        </p:txBody>
      </p:sp>
      <p:sp>
        <p:nvSpPr>
          <p:cNvPr id="26" name="Oval 25"/>
          <p:cNvSpPr/>
          <p:nvPr/>
        </p:nvSpPr>
        <p:spPr>
          <a:xfrm>
            <a:off x="2157730" y="5150744"/>
            <a:ext cx="411480" cy="41148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157730" y="5196464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6370" y="5132457"/>
            <a:ext cx="606298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E74C3C"/>
                </a:solidFill>
                <a:latin typeface="Calibri"/>
              </a:defRPr>
            </a:pPr>
            <a:r>
              <a:t>Preprocessing matters more than model choice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06370" y="5443353"/>
            <a:ext cx="60629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  <a:latin typeface="Calibri"/>
              </a:defRPr>
            </a:pPr>
            <a:r>
              <a:t>Custom stopwords (said, says, new) alone can shift accuracy by 1-2 percentage points</a:t>
            </a:r>
          </a:p>
        </p:txBody>
      </p:sp>
      <p:sp>
        <p:nvSpPr>
          <p:cNvPr id="30" name="Oval 29"/>
          <p:cNvSpPr/>
          <p:nvPr/>
        </p:nvSpPr>
        <p:spPr>
          <a:xfrm>
            <a:off x="2157730" y="5900553"/>
            <a:ext cx="411480" cy="41148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157730" y="5946272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06370" y="5882265"/>
            <a:ext cx="606298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ECC71"/>
                </a:solidFill>
                <a:latin typeface="Calibri"/>
              </a:defRPr>
            </a:pPr>
            <a:r>
              <a:t>Where would Transformers take us?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6370" y="6193161"/>
            <a:ext cx="6844863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  <a:latin typeface="Calibri"/>
              </a:defRPr>
            </a:pPr>
            <a:r>
              <a:rPr dirty="0"/>
              <a:t>BERT/</a:t>
            </a:r>
            <a:r>
              <a:rPr dirty="0" err="1"/>
              <a:t>RoBERTa</a:t>
            </a:r>
            <a:r>
              <a:rPr dirty="0"/>
              <a:t> would likely hit 94–96% — but at 100× the compute cost and lost interpretability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286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Production Path — If This Were Real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BBBB"/>
                </a:solidFill>
                <a:latin typeface="Calibri"/>
              </a:defRPr>
            </a:pPr>
            <a:r>
              <a:t>Architecture and next steps for a deployable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350" y="1463040"/>
            <a:ext cx="882650" cy="770995"/>
          </a:xfrm>
          <a:prstGeom prst="roundRect">
            <a:avLst/>
          </a:prstGeom>
          <a:noFill/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572768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74C3C"/>
                </a:solidFill>
                <a:latin typeface="Calibri"/>
              </a:defRPr>
            </a:pPr>
            <a:r>
              <a:t>News</a:t>
            </a:r>
            <a:br/>
            <a:r>
              <a:t>Headline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757363" y="1783080"/>
            <a:ext cx="345757" cy="274320"/>
          </a:xfrm>
          <a:prstGeom prst="rightArrow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194560" y="1463040"/>
            <a:ext cx="1325879" cy="761851"/>
          </a:xfrm>
          <a:prstGeom prst="roundRect">
            <a:avLst/>
          </a:prstGeom>
          <a:noFill/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148839" y="1572768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39C12"/>
                </a:solidFill>
                <a:latin typeface="Calibri"/>
              </a:defRPr>
            </a:pPr>
            <a:r>
              <a:t>Preprocessing</a:t>
            </a:r>
            <a:br/>
            <a:r>
              <a:t>Pipeline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566160" y="1783080"/>
            <a:ext cx="355600" cy="274320"/>
          </a:xfrm>
          <a:prstGeom prst="rightArrow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977641" y="1463040"/>
            <a:ext cx="1051558" cy="761851"/>
          </a:xfrm>
          <a:prstGeom prst="roundRect">
            <a:avLst/>
          </a:prstGeom>
          <a:noFill/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94759" y="1572768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CC71"/>
                </a:solidFill>
                <a:latin typeface="Calibri"/>
              </a:defRPr>
            </a:pPr>
            <a:r>
              <a:t>TF-IDF</a:t>
            </a:r>
            <a:br/>
            <a:r>
              <a:t>Transform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123180" y="1783080"/>
            <a:ext cx="271779" cy="274320"/>
          </a:xfrm>
          <a:prstGeom prst="rightArrow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486399" y="1463040"/>
            <a:ext cx="1270002" cy="761851"/>
          </a:xfrm>
          <a:prstGeom prst="roundRect">
            <a:avLst/>
          </a:prstGeom>
          <a:noFill/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40680" y="1572768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498DB"/>
                </a:solidFill>
                <a:latin typeface="Calibri"/>
              </a:defRPr>
            </a:pPr>
            <a:r>
              <a:t>Random Forest</a:t>
            </a:r>
            <a:br/>
            <a:r>
              <a:t>Predict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858000" y="1783080"/>
            <a:ext cx="274320" cy="274320"/>
          </a:xfrm>
          <a:prstGeom prst="rightArrow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213601" y="1463040"/>
            <a:ext cx="1054100" cy="730187"/>
          </a:xfrm>
          <a:prstGeom prst="roundRect">
            <a:avLst/>
          </a:prstGeom>
          <a:noFill/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086600" y="1572768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9B59B6"/>
                </a:solidFill>
                <a:latin typeface="Calibri"/>
              </a:defRPr>
            </a:pPr>
            <a:r>
              <a:t>Score &gt; 0.5?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778240" y="1463040"/>
            <a:ext cx="1054100" cy="730187"/>
          </a:xfrm>
          <a:prstGeom prst="roundRect">
            <a:avLst/>
          </a:prstGeom>
          <a:noFill/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732520" y="1572768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74C3C"/>
                </a:solidFill>
                <a:latin typeface="Calibri"/>
              </a:defRPr>
            </a:pPr>
            <a:r>
              <a:t>FAKE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566400" y="1463040"/>
            <a:ext cx="1054100" cy="730187"/>
          </a:xfrm>
          <a:prstGeom prst="roundRect">
            <a:avLst/>
          </a:prstGeom>
          <a:noFill/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378440" y="1572768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CC71"/>
                </a:solidFill>
                <a:latin typeface="Calibri"/>
              </a:defRPr>
            </a:pPr>
            <a:r>
              <a:t>REAL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1463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→ FAKE</a:t>
            </a:r>
            <a:br/>
            <a:r>
              <a:t>→ REAL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96000" y="2606040"/>
            <a:ext cx="2171701" cy="640080"/>
          </a:xfrm>
          <a:prstGeom prst="roundRect">
            <a:avLst/>
          </a:prstGeom>
          <a:noFill/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806440" y="2633472"/>
            <a:ext cx="265176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39C12"/>
                </a:solidFill>
                <a:latin typeface="Calibri"/>
              </a:defRPr>
            </a:pPr>
            <a:r>
              <a:rPr dirty="0"/>
              <a:t>Confidence &lt; 0.7?</a:t>
            </a:r>
            <a:br>
              <a:rPr dirty="0"/>
            </a:br>
            <a:r>
              <a:rPr dirty="0"/>
              <a:t>→ Human Review Queue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85899" y="3550771"/>
            <a:ext cx="3474721" cy="2492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Next Steps for Improvement:</a:t>
            </a:r>
          </a:p>
          <a:p>
            <a:pPr>
              <a:spcAft>
                <a:spcPts val="100"/>
              </a:spcAft>
              <a:defRPr sz="400" b="0">
                <a:solidFill>
                  <a:srgbClr val="BBBBBB"/>
                </a:solidFill>
                <a:latin typeface="Calibri"/>
              </a:defRPr>
            </a:pPr>
            <a:endParaRPr/>
          </a:p>
          <a:p>
            <a:pPr>
              <a:spcAft>
                <a:spcPts val="100"/>
              </a:spcAft>
              <a:defRPr sz="1500" b="1">
                <a:solidFill>
                  <a:srgbClr val="3498DB"/>
                </a:solidFill>
                <a:latin typeface="Calibri"/>
              </a:defRPr>
            </a:pPr>
            <a:r>
              <a:t>1. Fine-tune distilBERT</a:t>
            </a:r>
          </a:p>
          <a:p>
            <a:pPr>
              <a:spcAft>
                <a:spcPts val="100"/>
              </a:spcAft>
              <a:defRPr sz="1300" b="0">
                <a:solidFill>
                  <a:srgbClr val="BBBBBB"/>
                </a:solidFill>
                <a:latin typeface="Calibri"/>
              </a:defRPr>
            </a:pPr>
            <a:r>
              <a:t>   3× smaller than BERT, ~94% expected</a:t>
            </a:r>
          </a:p>
          <a:p>
            <a:pPr>
              <a:spcAft>
                <a:spcPts val="100"/>
              </a:spcAft>
              <a:defRPr sz="400" b="0">
                <a:solidFill>
                  <a:srgbClr val="BBBBBB"/>
                </a:solidFill>
                <a:latin typeface="Calibri"/>
              </a:defRPr>
            </a:pPr>
            <a:endParaRPr/>
          </a:p>
          <a:p>
            <a:pPr>
              <a:spcAft>
                <a:spcPts val="100"/>
              </a:spcAft>
              <a:defRPr sz="1500" b="1">
                <a:solidFill>
                  <a:srgbClr val="3498DB"/>
                </a:solidFill>
                <a:latin typeface="Calibri"/>
              </a:defRPr>
            </a:pPr>
            <a:r>
              <a:t>2. Ensemble Voting Classifier</a:t>
            </a:r>
          </a:p>
          <a:p>
            <a:pPr>
              <a:spcAft>
                <a:spcPts val="100"/>
              </a:spcAft>
              <a:defRPr sz="1300" b="0">
                <a:solidFill>
                  <a:srgbClr val="BBBBBB"/>
                </a:solidFill>
                <a:latin typeface="Calibri"/>
              </a:defRPr>
            </a:pPr>
            <a:r>
              <a:t>   RF + XGBoost + HGB → reduce variance</a:t>
            </a:r>
          </a:p>
          <a:p>
            <a:pPr>
              <a:spcAft>
                <a:spcPts val="100"/>
              </a:spcAft>
              <a:defRPr sz="400" b="0">
                <a:solidFill>
                  <a:srgbClr val="BBBBBB"/>
                </a:solidFill>
                <a:latin typeface="Calibri"/>
              </a:defRPr>
            </a:pPr>
            <a:endParaRPr/>
          </a:p>
          <a:p>
            <a:pPr>
              <a:spcAft>
                <a:spcPts val="100"/>
              </a:spcAft>
              <a:defRPr sz="1500" b="1">
                <a:solidFill>
                  <a:srgbClr val="3498DB"/>
                </a:solidFill>
                <a:latin typeface="Calibri"/>
              </a:defRPr>
            </a:pPr>
            <a:r>
              <a:t>3. Add metadata features</a:t>
            </a:r>
          </a:p>
          <a:p>
            <a:pPr>
              <a:spcAft>
                <a:spcPts val="100"/>
              </a:spcAft>
              <a:defRPr sz="1300" b="0">
                <a:solidFill>
                  <a:srgbClr val="BBBBBB"/>
                </a:solidFill>
                <a:latin typeface="Calibri"/>
              </a:defRPr>
            </a:pPr>
            <a:r>
              <a:t>   Source domain, publish time, author history</a:t>
            </a:r>
          </a:p>
          <a:p>
            <a:pPr>
              <a:spcAft>
                <a:spcPts val="100"/>
              </a:spcAft>
              <a:defRPr sz="400" b="0">
                <a:solidFill>
                  <a:srgbClr val="BBBBBB"/>
                </a:solidFill>
                <a:latin typeface="Calibri"/>
              </a:defRPr>
            </a:pPr>
            <a:endParaRPr/>
          </a:p>
          <a:p>
            <a:pPr>
              <a:spcAft>
                <a:spcPts val="100"/>
              </a:spcAft>
              <a:defRPr sz="1500" b="1">
                <a:solidFill>
                  <a:srgbClr val="3498DB"/>
                </a:solidFill>
                <a:latin typeface="Calibri"/>
              </a:defRPr>
            </a:pPr>
            <a:r>
              <a:t>4. Deploy as FastAPI microservice</a:t>
            </a:r>
          </a:p>
          <a:p>
            <a:pPr>
              <a:spcAft>
                <a:spcPts val="100"/>
              </a:spcAft>
              <a:defRPr sz="1300" b="0">
                <a:solidFill>
                  <a:srgbClr val="BBBBBB"/>
                </a:solidFill>
                <a:latin typeface="Calibri"/>
              </a:defRPr>
            </a:pPr>
            <a:r>
              <a:t>   &lt; 1ms inference per headline on CPU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566160"/>
            <a:ext cx="3009900" cy="24776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rPr dirty="0"/>
              <a:t>Performance Summary:</a:t>
            </a:r>
          </a:p>
          <a:p>
            <a:pPr>
              <a:spcAft>
                <a:spcPts val="200"/>
              </a:spcAft>
              <a:defRPr sz="600" b="0">
                <a:solidFill>
                  <a:srgbClr val="BBBBBB"/>
                </a:solidFill>
                <a:latin typeface="Calibri"/>
              </a:defRPr>
            </a:pPr>
            <a:endParaRPr dirty="0"/>
          </a:p>
          <a:p>
            <a:pPr>
              <a:spcAft>
                <a:spcPts val="200"/>
              </a:spcAft>
              <a:defRPr sz="1600" b="1">
                <a:solidFill>
                  <a:srgbClr val="2ECC71"/>
                </a:solidFill>
                <a:latin typeface="Calibri"/>
              </a:defRPr>
            </a:pPr>
            <a:r>
              <a:rPr dirty="0"/>
              <a:t>Model:  Random Forest</a:t>
            </a:r>
          </a:p>
          <a:p>
            <a:pPr>
              <a:spcAft>
                <a:spcPts val="200"/>
              </a:spcAft>
              <a:defRPr sz="1600" b="0">
                <a:solidFill>
                  <a:srgbClr val="BBBBBB"/>
                </a:solidFill>
                <a:latin typeface="Calibri"/>
              </a:defRPr>
            </a:pPr>
            <a:r>
              <a:rPr dirty="0"/>
              <a:t>Features:  TF-IDF (8k n-grams 1-3)</a:t>
            </a:r>
          </a:p>
          <a:p>
            <a:pPr>
              <a:spcAft>
                <a:spcPts val="200"/>
              </a:spcAft>
              <a:defRPr sz="1600" b="1">
                <a:solidFill>
                  <a:srgbClr val="2ECC71"/>
                </a:solidFill>
                <a:latin typeface="Calibri"/>
              </a:defRPr>
            </a:pPr>
            <a:r>
              <a:rPr dirty="0"/>
              <a:t>Accuracy:  91.26%</a:t>
            </a:r>
          </a:p>
          <a:p>
            <a:pPr>
              <a:spcAft>
                <a:spcPts val="200"/>
              </a:spcAft>
              <a:defRPr sz="1600" b="0">
                <a:solidFill>
                  <a:srgbClr val="BBBBBB"/>
                </a:solidFill>
                <a:latin typeface="Calibri"/>
              </a:defRPr>
            </a:pPr>
            <a:r>
              <a:rPr dirty="0"/>
              <a:t>F1-Macro:  0.9126</a:t>
            </a:r>
          </a:p>
          <a:p>
            <a:pPr>
              <a:spcAft>
                <a:spcPts val="200"/>
              </a:spcAft>
              <a:defRPr sz="1600" b="0">
                <a:solidFill>
                  <a:srgbClr val="BBBBBB"/>
                </a:solidFill>
                <a:latin typeface="Calibri"/>
              </a:defRPr>
            </a:pPr>
            <a:r>
              <a:rPr dirty="0"/>
              <a:t>ROC-AUC:  0.971</a:t>
            </a:r>
          </a:p>
          <a:p>
            <a:pPr>
              <a:spcAft>
                <a:spcPts val="200"/>
              </a:spcAft>
              <a:defRPr sz="800" b="0">
                <a:solidFill>
                  <a:srgbClr val="BBBBBB"/>
                </a:solidFill>
                <a:latin typeface="Calibri"/>
              </a:defRPr>
            </a:pPr>
            <a:endParaRPr dirty="0"/>
          </a:p>
          <a:p>
            <a:pPr>
              <a:spcAft>
                <a:spcPts val="200"/>
              </a:spcAft>
              <a:defRPr sz="1400" b="0">
                <a:solidFill>
                  <a:srgbClr val="888888"/>
                </a:solidFill>
                <a:latin typeface="Calibri"/>
              </a:defRPr>
            </a:pPr>
            <a:r>
              <a:rPr dirty="0"/>
              <a:t>Predictions saved to:</a:t>
            </a:r>
          </a:p>
          <a:p>
            <a:pPr>
              <a:spcAft>
                <a:spcPts val="200"/>
              </a:spcAft>
              <a:defRPr sz="1400" b="1">
                <a:solidFill>
                  <a:srgbClr val="2ECC71"/>
                </a:solidFill>
                <a:latin typeface="Calibri"/>
              </a:defRPr>
            </a:pPr>
            <a:r>
              <a:rPr dirty="0"/>
              <a:t>dataset/predictions.csv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210050" y="615612"/>
            <a:ext cx="33782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Calibri"/>
              </a:defRPr>
            </a:pPr>
            <a:r>
              <a:rPr dirty="0"/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71750" y="1935604"/>
            <a:ext cx="6889750" cy="28418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400" b="1">
                <a:solidFill>
                  <a:srgbClr val="2ECC71"/>
                </a:solidFill>
                <a:latin typeface="Calibri"/>
              </a:defRPr>
            </a:pPr>
            <a:r>
              <a:rPr dirty="0"/>
              <a:t>NLP Classification with classical ML is alive and well.</a:t>
            </a:r>
          </a:p>
          <a:p>
            <a:pPr>
              <a:spcAft>
                <a:spcPts val="400"/>
              </a:spcAft>
              <a:defRPr sz="1000" b="0">
                <a:solidFill>
                  <a:srgbClr val="BBBBBB"/>
                </a:solidFill>
                <a:latin typeface="Calibri"/>
              </a:defRPr>
            </a:pPr>
            <a:endParaRPr dirty="0"/>
          </a:p>
          <a:p>
            <a:pPr>
              <a:spcAft>
                <a:spcPts val="400"/>
              </a:spcAft>
              <a:defRPr sz="1800" b="0">
                <a:solidFill>
                  <a:srgbClr val="BBBBBB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For short-text tasks like headline classification,</a:t>
            </a:r>
          </a:p>
          <a:p>
            <a:pPr>
              <a:spcAft>
                <a:spcPts val="400"/>
              </a:spcAft>
              <a:defRPr sz="1800" b="0">
                <a:solidFill>
                  <a:srgbClr val="BBBBBB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TF-IDF + tree-based models deliver 91%+ accuracy —</a:t>
            </a:r>
          </a:p>
          <a:p>
            <a:pPr>
              <a:spcAft>
                <a:spcPts val="400"/>
              </a:spcAft>
              <a:defRPr sz="1800" b="0">
                <a:solidFill>
                  <a:srgbClr val="BBBBBB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interpretable, fast, and production-ready —</a:t>
            </a:r>
          </a:p>
          <a:p>
            <a:pPr>
              <a:spcAft>
                <a:spcPts val="400"/>
              </a:spcAft>
              <a:defRPr sz="1800" b="0">
                <a:solidFill>
                  <a:srgbClr val="BBBBBB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without the overhead of deep learning.</a:t>
            </a:r>
          </a:p>
          <a:p>
            <a:pPr>
              <a:spcAft>
                <a:spcPts val="400"/>
              </a:spcAft>
              <a:defRPr sz="1000" b="0">
                <a:solidFill>
                  <a:srgbClr val="BBBBBB"/>
                </a:solidFill>
                <a:latin typeface="Calibri"/>
              </a:defRPr>
            </a:pPr>
            <a:endParaRPr dirty="0">
              <a:solidFill>
                <a:schemeClr val="bg1"/>
              </a:solidFill>
            </a:endParaRPr>
          </a:p>
          <a:p>
            <a:pPr>
              <a:spcAft>
                <a:spcPts val="400"/>
              </a:spcAft>
              <a:defRPr sz="1800" b="0">
                <a:solidFill>
                  <a:srgbClr val="BBBBBB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Word2Vec proves you can match that accuracy</a:t>
            </a:r>
          </a:p>
          <a:p>
            <a:pPr>
              <a:spcAft>
                <a:spcPts val="400"/>
              </a:spcAft>
              <a:defRPr sz="1800" b="0">
                <a:solidFill>
                  <a:srgbClr val="BBBBBB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with just 200 dimensions. Efficiency matters.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4100" y="5243830"/>
            <a:ext cx="101854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3498DB"/>
                </a:solidFill>
                <a:latin typeface="Calibri"/>
              </a:defRPr>
            </a:pPr>
            <a:r>
              <a:rPr dirty="0"/>
              <a:t>Final Model: Random Forest + TF-IDF (n-grams 1-3, 8k features)  •  Accuracy: 91.26%  •  F1: 0.9126  •  ROC-AUC: 0.97+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</TotalTime>
  <Words>2271</Words>
  <Application>Microsoft Office PowerPoint</Application>
  <PresentationFormat>Widescreen</PresentationFormat>
  <Paragraphs>379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Octavian L .</cp:lastModifiedBy>
  <cp:revision>5</cp:revision>
  <dcterms:created xsi:type="dcterms:W3CDTF">2013-01-27T09:14:16Z</dcterms:created>
  <dcterms:modified xsi:type="dcterms:W3CDTF">2026-07-30T15:27:59Z</dcterms:modified>
  <cp:category/>
</cp:coreProperties>
</file>