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Fake News Detection</a:t>
            </a:r>
            <a:br/>
            <a:r>
              <a:t>with NLP Classification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91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3498DB"/>
                </a:solidFill>
                <a:latin typeface="Calibri"/>
              </a:defRPr>
            </a:pPr>
            <a:r>
              <a:t>TF-IDF  •  Word2Vec  •  Logistic Regression 🥇  •  Random Forest  •  XGBoost  •  Gradient Boosting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4023360"/>
            <a:ext cx="3931920" cy="36576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2976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BBBBB"/>
                </a:solidFill>
                <a:latin typeface="Calibri"/>
              </a:defRPr>
            </a:pPr>
            <a:r>
              <a:t>Ironhack Data Analytics Bootcamp  •  Week 7  •  Project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ECC71"/>
                </a:solidFill>
                <a:latin typeface="Calibri"/>
              </a:defRPr>
            </a:pPr>
            <a:r>
              <a:t>Best Model: Logistic Regression — 93.27% Accuracy  |  F1: 0.9326  |  ROC-AUC: 0.9825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Where NLP Classification Sits in the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BBBB"/>
                </a:solidFill>
                <a:latin typeface="Calibri"/>
              </a:defRPr>
            </a:pPr>
            <a:r>
              <a:t>The 5 Eras of Text Classification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45920"/>
            <a:ext cx="2103120" cy="1463040"/>
          </a:xfrm>
          <a:prstGeom prst="roundRect">
            <a:avLst/>
          </a:prstGeom>
          <a:solidFill>
            <a:srgbClr val="1E1E3A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3736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74C3C"/>
                </a:solidFill>
                <a:latin typeface="Calibri"/>
              </a:defRPr>
            </a:pPr>
            <a:r>
              <a:t>1. Rule-Based</a:t>
            </a:r>
            <a:br/>
            <a:r>
              <a:t>1950s–1990s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28600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BBBBB"/>
                </a:solidFill>
                <a:latin typeface="Calibri"/>
              </a:defRPr>
            </a:pPr>
            <a:r>
              <a:t>Hand-crafted regex</a:t>
            </a:r>
            <a:br/>
            <a:r>
              <a:t>Keyword matching</a:t>
            </a:r>
            <a:br/>
            <a:r>
              <a:t>IF 'fake' THEN label=0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06040" y="2240280"/>
            <a:ext cx="137160" cy="274320"/>
          </a:xfrm>
          <a:prstGeom prst="rightArrow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43200" y="1645920"/>
            <a:ext cx="2103120" cy="1463040"/>
          </a:xfrm>
          <a:prstGeom prst="roundRect">
            <a:avLst/>
          </a:prstGeom>
          <a:solidFill>
            <a:srgbClr val="1E1E3A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80360" y="173736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39C12"/>
                </a:solidFill>
                <a:latin typeface="Calibri"/>
              </a:defRPr>
            </a:pPr>
            <a:r>
              <a:t>2. Classical ML</a:t>
            </a:r>
            <a:br/>
            <a:r>
              <a:t>2000s–2010s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228600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BBBBB"/>
                </a:solidFill>
                <a:latin typeface="Calibri"/>
              </a:defRPr>
            </a:pPr>
            <a:r>
              <a:t>TF-IDF + SVMs</a:t>
            </a:r>
            <a:br/>
            <a:r>
              <a:t>Logistic Regression</a:t>
            </a:r>
            <a:br/>
            <a:r>
              <a:t>Naive Bayes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892040" y="2240280"/>
            <a:ext cx="137160" cy="274320"/>
          </a:xfrm>
          <a:prstGeom prst="rightArrow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29200" y="1645920"/>
            <a:ext cx="2103120" cy="1463040"/>
          </a:xfrm>
          <a:prstGeom prst="roundRect">
            <a:avLst/>
          </a:prstGeom>
          <a:solidFill>
            <a:srgbClr val="1E1E3A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66360" y="173736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CC71"/>
                </a:solidFill>
                <a:latin typeface="Calibri"/>
              </a:defRPr>
            </a:pPr>
            <a:r>
              <a:t>3. Embeddings</a:t>
            </a:r>
            <a:br/>
            <a:r>
              <a:t>2013–2018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66360" y="228600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BBBBB"/>
                </a:solidFill>
                <a:latin typeface="Calibri"/>
              </a:defRPr>
            </a:pPr>
            <a:r>
              <a:t>Word2Vec, GloVe</a:t>
            </a:r>
            <a:br/>
            <a:r>
              <a:t>FastText</a:t>
            </a:r>
            <a:br/>
            <a:r>
              <a:t>← We are here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178040" y="2240280"/>
            <a:ext cx="137160" cy="274320"/>
          </a:xfrm>
          <a:prstGeom prst="rightArrow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315200" y="1645920"/>
            <a:ext cx="2103120" cy="1463040"/>
          </a:xfrm>
          <a:prstGeom prst="roundRect">
            <a:avLst/>
          </a:prstGeom>
          <a:solidFill>
            <a:srgbClr val="1E1E3A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52360" y="173736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498DB"/>
                </a:solidFill>
                <a:latin typeface="Calibri"/>
              </a:defRPr>
            </a:pPr>
            <a:r>
              <a:t>4. Deep RNNs</a:t>
            </a:r>
            <a:br/>
            <a:r>
              <a:t>2014–2019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60" y="228600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BBBBB"/>
                </a:solidFill>
                <a:latin typeface="Calibri"/>
              </a:defRPr>
            </a:pPr>
            <a:r>
              <a:t>LSTMs, GRUs</a:t>
            </a:r>
            <a:br/>
            <a:r>
              <a:t>BiLSTM + Attention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464040" y="2240280"/>
            <a:ext cx="137160" cy="274320"/>
          </a:xfrm>
          <a:prstGeom prst="rightArrow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601200" y="1645920"/>
            <a:ext cx="2103120" cy="1463040"/>
          </a:xfrm>
          <a:prstGeom prst="roundRect">
            <a:avLst/>
          </a:prstGeom>
          <a:solidFill>
            <a:srgbClr val="1E1E3A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38360" y="173736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9B59B6"/>
                </a:solidFill>
                <a:latin typeface="Calibri"/>
              </a:defRPr>
            </a:pPr>
            <a:r>
              <a:t>5. Transformers</a:t>
            </a:r>
            <a:br/>
            <a:r>
              <a:t>2018–Today 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38360" y="228600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BBBBB"/>
                </a:solidFill>
                <a:latin typeface="Calibri"/>
              </a:defRPr>
            </a:pPr>
            <a:r>
              <a:t>BERT, GPT, LLMs</a:t>
            </a:r>
            <a:br/>
            <a:r>
              <a:t>RoBERTa, T5</a:t>
            </a:r>
            <a:br/>
            <a:r>
              <a:t>Current SOTA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0" y="3383280"/>
            <a:ext cx="4572000" cy="914400"/>
          </a:xfrm>
          <a:prstGeom prst="roundRect">
            <a:avLst/>
          </a:prstGeom>
          <a:solidFill>
            <a:srgbClr val="153D1A"/>
          </a:solidFill>
          <a:ln w="3175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2080" y="3493008"/>
            <a:ext cx="4206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2ECC71"/>
                </a:solidFill>
                <a:latin typeface="Calibri"/>
              </a:defRPr>
            </a:pPr>
            <a:r>
              <a:t>🎯 This Project: Classical ML + Embeddings</a:t>
            </a:r>
            <a:br/>
            <a:r>
              <a:t>93.3% accuracy • No GPU needed • Fully interpretable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7548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F39C12"/>
                </a:solidFill>
                <a:latin typeface="Calibri"/>
              </a:defRPr>
            </a:pPr>
            <a:r>
              <a:t>Why Classical ML Still Dominates in Production:</a:t>
            </a:r>
          </a:p>
          <a:p>
            <a:pPr>
              <a:spcAft>
                <a:spcPts val="400"/>
              </a:spcAft>
              <a:defRPr sz="1400" b="0">
                <a:solidFill>
                  <a:srgbClr val="BBBBBB"/>
                </a:solidFill>
                <a:latin typeface="Calibri"/>
              </a:defRPr>
            </a:pPr>
            <a:r>
              <a:t>• Logistic Regression at 93.3% beats complex models — simplicity wins on well-engineered features</a:t>
            </a:r>
          </a:p>
          <a:p>
            <a:pPr>
              <a:spcAft>
                <a:spcPts val="400"/>
              </a:spcAft>
              <a:defRPr sz="1400" b="0">
                <a:solidFill>
                  <a:srgbClr val="BBBBBB"/>
                </a:solidFill>
                <a:latin typeface="Calibri"/>
              </a:defRPr>
            </a:pPr>
            <a:r>
              <a:t>• Interpretability — You can explain exactly WHY a headline was classified as fake (coefficients)</a:t>
            </a:r>
          </a:p>
          <a:p>
            <a:pPr>
              <a:spcAft>
                <a:spcPts val="400"/>
              </a:spcAft>
              <a:defRPr sz="1400" b="0">
                <a:solidFill>
                  <a:srgbClr val="BBBBBB"/>
                </a:solidFill>
                <a:latin typeface="Calibri"/>
              </a:defRPr>
            </a:pPr>
            <a:r>
              <a:t>• Speed — Trains in seconds on CPU; inference in microseconds per headline</a:t>
            </a:r>
          </a:p>
          <a:p>
            <a:pPr>
              <a:spcAft>
                <a:spcPts val="400"/>
              </a:spcAft>
              <a:defRPr sz="1400" b="0">
                <a:solidFill>
                  <a:srgbClr val="BBBBBB"/>
                </a:solidFill>
                <a:latin typeface="Calibri"/>
              </a:defRPr>
            </a:pPr>
            <a:r>
              <a:t>• Cost — No GPU needed; runs on a $5/month cloud instance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Problem Statement &amp;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Goal: Build a classifier to distinguish Fake (0) vs Real (1) news headlines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03120"/>
          <a:ext cx="109728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663440"/>
                <a:gridCol w="4663440"/>
              </a:tblGrid>
              <a:tr h="27432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3498D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Fake News (label = 0)</a:t>
                      </a:r>
                    </a:p>
                  </a:txBody>
                  <a:tcPr>
                    <a:solidFill>
                      <a:srgbClr val="3498D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Real News (label = 1)</a:t>
                      </a:r>
                    </a:p>
                  </a:txBody>
                  <a:tcPr>
                    <a:solidFill>
                      <a:srgbClr val="3498D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Count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~5,150 (51.5%)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~4,850 (48.5%)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Avg Words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7.2 words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8.1 words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Example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'Trump sends embarrassing New Year message'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'Fed raises interest rates by 0.25%'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Tone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Emotional, clickbait, sensational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Factual, institutional, measured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384048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3498DB"/>
                </a:solidFill>
                <a:latin typeface="Calibri"/>
              </a:defRPr>
            </a:pPr>
            <a:r>
              <a:t>Format:  tab-separated — &lt;label&gt;\t&lt;headline&gt;</a:t>
            </a:r>
          </a:p>
          <a:p>
            <a:pPr>
              <a:spcAft>
                <a:spcPts val="600"/>
              </a:spcAft>
              <a:defRPr sz="1400" b="0">
                <a:solidFill>
                  <a:srgbClr val="BBBBBB"/>
                </a:solidFill>
                <a:latin typeface="Calibri"/>
              </a:defRPr>
            </a:pPr>
            <a:r>
              <a:t>✓ Nearly balanced dataset (51.5%/48.5%) — no oversampling needed</a:t>
            </a:r>
          </a:p>
          <a:p>
            <a:pPr>
              <a:spcAft>
                <a:spcPts val="600"/>
              </a:spcAft>
              <a:defRPr sz="1400" b="0">
                <a:solidFill>
                  <a:srgbClr val="BBBBBB"/>
                </a:solidFill>
                <a:latin typeface="Calibri"/>
              </a:defRPr>
            </a:pPr>
            <a:r>
              <a:t>✓ No missing values, no duplicate headlines</a:t>
            </a:r>
          </a:p>
          <a:p>
            <a:pPr>
              <a:spcAft>
                <a:spcPts val="600"/>
              </a:spcAft>
              <a:defRPr sz="1400" b="0">
                <a:solidFill>
                  <a:srgbClr val="BBBBBB"/>
                </a:solidFill>
                <a:latin typeface="Calibri"/>
              </a:defRPr>
            </a:pPr>
            <a:r>
              <a:t>✓ Short text — headlines are 5–15 words, ideal for TF-IDF and Word2Vec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486400"/>
            <a:ext cx="10789920" cy="1005840"/>
          </a:xfrm>
          <a:prstGeom prst="roundRect">
            <a:avLst/>
          </a:prstGeom>
          <a:solidFill>
            <a:srgbClr val="1A1A35"/>
          </a:solidFill>
          <a:ln w="1905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577840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F39C12"/>
                </a:solidFill>
                <a:latin typeface="Calibri"/>
              </a:defRPr>
            </a:pPr>
            <a:r>
              <a:t>💡 Key Challenge: Fake &amp; real share vocabulary — classification relies on subtle patterns, not obvious keywords.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Text Preprocessing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BBBB"/>
                </a:solidFill>
                <a:latin typeface="Calibri"/>
              </a:defRPr>
            </a:pPr>
            <a:r>
              <a:t>Every decision here impacts final accuracy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554480"/>
            <a:ext cx="1325880" cy="1188720"/>
          </a:xfrm>
          <a:prstGeom prst="roundRect">
            <a:avLst/>
          </a:prstGeom>
          <a:solidFill>
            <a:srgbClr val="1E1E3A"/>
          </a:solidFill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627632"/>
            <a:ext cx="1234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E74C3C"/>
                </a:solidFill>
                <a:latin typeface="Calibri"/>
              </a:defRPr>
            </a:pPr>
            <a:r>
              <a:t>1. Lowercase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103120"/>
            <a:ext cx="1234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BBBBB"/>
                </a:solidFill>
                <a:latin typeface="Calibri"/>
              </a:defRPr>
            </a:pPr>
            <a:r>
              <a:t>'Trump' → 'trump'</a:t>
            </a:r>
          </a:p>
        </p:txBody>
      </p:sp>
      <p:sp>
        <p:nvSpPr>
          <p:cNvPr id="9" name="Right Arrow 8"/>
          <p:cNvSpPr/>
          <p:nvPr/>
        </p:nvSpPr>
        <p:spPr>
          <a:xfrm>
            <a:off x="1691640" y="2011680"/>
            <a:ext cx="137160" cy="228600"/>
          </a:xfrm>
          <a:prstGeom prst="rightArrow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828800" y="1554480"/>
            <a:ext cx="1325880" cy="1188720"/>
          </a:xfrm>
          <a:prstGeom prst="roundRect">
            <a:avLst/>
          </a:prstGeom>
          <a:solidFill>
            <a:srgbClr val="1E1E3A"/>
          </a:solidFill>
          <a:ln w="1905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74519" y="1627632"/>
            <a:ext cx="1234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39C12"/>
                </a:solidFill>
                <a:latin typeface="Calibri"/>
              </a:defRPr>
            </a:pPr>
            <a:r>
              <a:t>2. Remove</a:t>
            </a:r>
            <a:br/>
            <a:r>
              <a:t>URLs/HTML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103120"/>
            <a:ext cx="1234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BBBBB"/>
                </a:solidFill>
                <a:latin typeface="Calibri"/>
              </a:defRPr>
            </a:pPr>
            <a:r>
              <a:t>regex: http...</a:t>
            </a:r>
            <a:br/>
            <a:r>
              <a:t>&lt;html&gt;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154680" y="2011680"/>
            <a:ext cx="137160" cy="228600"/>
          </a:xfrm>
          <a:prstGeom prst="rightArrow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91840" y="1554480"/>
            <a:ext cx="1325880" cy="1188720"/>
          </a:xfrm>
          <a:prstGeom prst="roundRect">
            <a:avLst/>
          </a:prstGeom>
          <a:solidFill>
            <a:srgbClr val="1E1E3A"/>
          </a:solidFill>
          <a:ln w="1905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627632"/>
            <a:ext cx="1234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ECC71"/>
                </a:solidFill>
                <a:latin typeface="Calibri"/>
              </a:defRPr>
            </a:pPr>
            <a:r>
              <a:t>3. Remove</a:t>
            </a:r>
            <a:br/>
            <a:r>
              <a:t>Punctuation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2103120"/>
            <a:ext cx="1234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BBBBB"/>
                </a:solidFill>
                <a:latin typeface="Calibri"/>
              </a:defRPr>
            </a:pPr>
            <a:r>
              <a:t>[^a-zA-Z\s]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617720" y="2011680"/>
            <a:ext cx="137160" cy="228600"/>
          </a:xfrm>
          <a:prstGeom prst="rightArrow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754880" y="1554480"/>
            <a:ext cx="1325880" cy="1188720"/>
          </a:xfrm>
          <a:prstGeom prst="roundRect">
            <a:avLst/>
          </a:prstGeom>
          <a:solidFill>
            <a:srgbClr val="1E1E3A"/>
          </a:solidFill>
          <a:ln w="1905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0600" y="1627632"/>
            <a:ext cx="1234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498DB"/>
                </a:solidFill>
                <a:latin typeface="Calibri"/>
              </a:defRPr>
            </a:pPr>
            <a:r>
              <a:t>4. Remove</a:t>
            </a:r>
            <a:br/>
            <a:r>
              <a:t>Numbers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2103120"/>
            <a:ext cx="1234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BBBBB"/>
                </a:solidFill>
                <a:latin typeface="Calibri"/>
              </a:defRPr>
            </a:pPr>
            <a:r>
              <a:t>\d+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6080760" y="2011680"/>
            <a:ext cx="137160" cy="228600"/>
          </a:xfrm>
          <a:prstGeom prst="rightArrow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17920" y="1554480"/>
            <a:ext cx="1325880" cy="1188720"/>
          </a:xfrm>
          <a:prstGeom prst="roundRect">
            <a:avLst/>
          </a:prstGeom>
          <a:solidFill>
            <a:srgbClr val="1E1E3A"/>
          </a:solidFill>
          <a:ln w="1905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63640" y="1627632"/>
            <a:ext cx="1234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9B59B6"/>
                </a:solidFill>
                <a:latin typeface="Calibri"/>
              </a:defRPr>
            </a:pPr>
            <a:r>
              <a:t>5. Tokenize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2103120"/>
            <a:ext cx="1234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BBBBB"/>
                </a:solidFill>
                <a:latin typeface="Calibri"/>
              </a:defRPr>
            </a:pPr>
            <a:r>
              <a:t>nltk.word_tokenize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543800" y="2011680"/>
            <a:ext cx="137160" cy="228600"/>
          </a:xfrm>
          <a:prstGeom prst="rightArrow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680960" y="1554480"/>
            <a:ext cx="1325880" cy="1188720"/>
          </a:xfrm>
          <a:prstGeom prst="roundRect">
            <a:avLst/>
          </a:prstGeom>
          <a:solidFill>
            <a:srgbClr val="1E1E3A"/>
          </a:solidFill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26680" y="1627632"/>
            <a:ext cx="1234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E74C3C"/>
                </a:solidFill>
                <a:latin typeface="Calibri"/>
              </a:defRPr>
            </a:pPr>
            <a:r>
              <a:t>6. Remove</a:t>
            </a:r>
            <a:br/>
            <a:r>
              <a:t>Stopwords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26680" y="2103120"/>
            <a:ext cx="1234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BBBBB"/>
                </a:solidFill>
                <a:latin typeface="Calibri"/>
              </a:defRPr>
            </a:pPr>
            <a:r>
              <a:t>the, a, is, said...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006840" y="2011680"/>
            <a:ext cx="137160" cy="228600"/>
          </a:xfrm>
          <a:prstGeom prst="rightArrow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144000" y="1554480"/>
            <a:ext cx="1325880" cy="1188720"/>
          </a:xfrm>
          <a:prstGeom prst="roundRect">
            <a:avLst/>
          </a:prstGeom>
          <a:solidFill>
            <a:srgbClr val="1E1E3A"/>
          </a:solidFill>
          <a:ln w="1905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9720" y="1627632"/>
            <a:ext cx="1234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39C12"/>
                </a:solidFill>
                <a:latin typeface="Calibri"/>
              </a:defRPr>
            </a:pPr>
            <a:r>
              <a:t>7. Lemmatize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9720" y="2103120"/>
            <a:ext cx="1234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BBBBB"/>
                </a:solidFill>
                <a:latin typeface="Calibri"/>
              </a:defRPr>
            </a:pPr>
            <a:r>
              <a:t>running → run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10469880" y="2011680"/>
            <a:ext cx="137160" cy="228600"/>
          </a:xfrm>
          <a:prstGeom prst="rightArrow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607040" y="1554480"/>
            <a:ext cx="1325880" cy="1188720"/>
          </a:xfrm>
          <a:prstGeom prst="roundRect">
            <a:avLst/>
          </a:prstGeom>
          <a:solidFill>
            <a:srgbClr val="1E1E3A"/>
          </a:solidFill>
          <a:ln w="1905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652760" y="1627632"/>
            <a:ext cx="1234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ECC71"/>
                </a:solidFill>
                <a:latin typeface="Calibri"/>
              </a:defRPr>
            </a:pPr>
            <a:r>
              <a:t>8. Cleaned</a:t>
            </a:r>
            <a:br/>
            <a:r>
              <a:t>Text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52760" y="2103120"/>
            <a:ext cx="1234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BBBBB"/>
                </a:solidFill>
                <a:latin typeface="Calibri"/>
              </a:defRPr>
            </a:pPr>
            <a:r>
              <a:t>Ready for features!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640080" y="310896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572000"/>
                <a:gridCol w="4389120"/>
              </a:tblGrid>
              <a:tr h="54864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Step</a:t>
                      </a:r>
                    </a:p>
                  </a:txBody>
                  <a:tcPr>
                    <a:solidFill>
                      <a:srgbClr val="3498D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Technique</a:t>
                      </a:r>
                    </a:p>
                  </a:txBody>
                  <a:tcPr>
                    <a:solidFill>
                      <a:srgbClr val="3498D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Why This Matters</a:t>
                      </a:r>
                    </a:p>
                  </a:txBody>
                  <a:tcPr>
                    <a:solidFill>
                      <a:srgbClr val="3498D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Stopwords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NLTK + custom: {'said','says','new','us','would'}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News-specific: 'said' appears everywhere, adds zero signal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Lemmatization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WordNetLemmatizer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Better than stemming: 'running'→'run' not 'runn'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Min Word Length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Keep words with len &gt; 2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Filters noise: 'a', 'an', 'at', 'be', 'go'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640080" y="55778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0">
                <a:solidFill>
                  <a:srgbClr val="888888"/>
                </a:solidFill>
                <a:latin typeface="Calibri"/>
              </a:defRPr>
            </a:pPr>
            <a:r>
              <a:t>Before:  "Donald Trump SENDS OUT embarrassing New Year's Eve message — THIS is disturbing!!!"</a:t>
            </a:r>
          </a:p>
          <a:p>
            <a:pPr>
              <a:spcAft>
                <a:spcPts val="200"/>
              </a:spcAft>
              <a:defRPr sz="1200" b="1">
                <a:solidFill>
                  <a:srgbClr val="2ECC71"/>
                </a:solidFill>
                <a:latin typeface="Calibri"/>
              </a:defRPr>
            </a:pPr>
            <a:r>
              <a:t>After:    "donald trump send embarrassing new year eve message disturbing"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Feature Extraction — TF-IDF &amp; Word2Vec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BBBB"/>
                </a:solidFill>
                <a:latin typeface="Calibri"/>
              </a:defRPr>
            </a:pPr>
            <a:r>
              <a:t>Sparse bag-of-words vs Dense semantic embeddings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498DB"/>
                </a:solidFill>
                <a:latin typeface="Calibri"/>
              </a:defRPr>
            </a:pPr>
            <a:r>
              <a:t>TF-IDF (Bag-of-Words)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498DB"/>
                </a:solidFill>
                <a:latin typeface="Calibri"/>
              </a:defRPr>
            </a:pPr>
            <a:r>
              <a:t>TF-IDF(t,d) = TF(t,d) × log(N / DF(t))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Configuration:</a:t>
            </a:r>
          </a:p>
          <a:p>
            <a:pPr>
              <a:spcAft>
                <a:spcPts val="200"/>
              </a:spcAft>
              <a:defRPr sz="1400" b="0">
                <a:solidFill>
                  <a:srgbClr val="BBBBBB"/>
                </a:solidFill>
                <a:latin typeface="Calibri"/>
              </a:defRPr>
            </a:pPr>
            <a:r>
              <a:t>ngram_range=(1,3) → captures phrases</a:t>
            </a:r>
          </a:p>
          <a:p>
            <a:pPr>
              <a:spcAft>
                <a:spcPts val="200"/>
              </a:spcAft>
              <a:defRPr sz="1400" b="0">
                <a:solidFill>
                  <a:srgbClr val="BBBBBB"/>
                </a:solidFill>
                <a:latin typeface="Calibri"/>
              </a:defRPr>
            </a:pPr>
            <a:r>
              <a:t>max_features=8000 → top vocabulary</a:t>
            </a:r>
          </a:p>
          <a:p>
            <a:pPr>
              <a:spcAft>
                <a:spcPts val="200"/>
              </a:spcAft>
              <a:defRPr sz="1400" b="0">
                <a:solidFill>
                  <a:srgbClr val="BBBBBB"/>
                </a:solidFill>
                <a:latin typeface="Calibri"/>
              </a:defRPr>
            </a:pPr>
            <a:r>
              <a:t>min_df=3, max_df=0.85 → filter extremes</a:t>
            </a:r>
          </a:p>
          <a:p>
            <a:pPr>
              <a:spcAft>
                <a:spcPts val="200"/>
              </a:spcAft>
              <a:defRPr sz="1400" b="0">
                <a:solidFill>
                  <a:srgbClr val="BBBBBB"/>
                </a:solidFill>
                <a:latin typeface="Calibri"/>
              </a:defRPr>
            </a:pPr>
            <a:r>
              <a:t>sublinear_tf=True → 1 + log(tf)</a:t>
            </a:r>
          </a:p>
          <a:p>
            <a:pPr>
              <a:spcAft>
                <a:spcPts val="200"/>
              </a:spcAft>
              <a:defRPr sz="600" b="0">
                <a:solidFill>
                  <a:srgbClr val="BBBBBB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400" b="0">
                <a:solidFill>
                  <a:srgbClr val="3498DB"/>
                </a:solidFill>
                <a:latin typeface="Calibri"/>
              </a:defRPr>
            </a:pPr>
            <a:r>
              <a:t>Result: 8,000+ × 8,000 sparse matrix</a:t>
            </a:r>
          </a:p>
          <a:p>
            <a:pPr>
              <a:spcAft>
                <a:spcPts val="200"/>
              </a:spcAft>
              <a:defRPr sz="1400" b="0">
                <a:solidFill>
                  <a:srgbClr val="888888"/>
                </a:solidFill>
                <a:latin typeface="Calibri"/>
              </a:defRPr>
            </a:pPr>
            <a:r>
              <a:t>~0.12% non-zero — highly sparse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CC71"/>
                </a:solidFill>
                <a:latin typeface="Calibri"/>
              </a:defRPr>
            </a:pPr>
            <a:r>
              <a:t>Word2Vec (Embeddings)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288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CC71"/>
                </a:solidFill>
                <a:latin typeface="Calibri"/>
              </a:defRPr>
            </a:pPr>
            <a:r>
              <a:t>doc_vec = average(word_vec(w₁), ..., word_vec(wₙ))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4688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Configuration:</a:t>
            </a:r>
          </a:p>
          <a:p>
            <a:pPr>
              <a:spcAft>
                <a:spcPts val="200"/>
              </a:spcAft>
              <a:defRPr sz="1400" b="0">
                <a:solidFill>
                  <a:srgbClr val="BBBBBB"/>
                </a:solidFill>
                <a:latin typeface="Calibri"/>
              </a:defRPr>
            </a:pPr>
            <a:r>
              <a:t>vector_size=200 → dense vectors</a:t>
            </a:r>
          </a:p>
          <a:p>
            <a:pPr>
              <a:spcAft>
                <a:spcPts val="200"/>
              </a:spcAft>
              <a:defRPr sz="1400" b="0">
                <a:solidFill>
                  <a:srgbClr val="BBBBBB"/>
                </a:solidFill>
                <a:latin typeface="Calibri"/>
              </a:defRPr>
            </a:pPr>
            <a:r>
              <a:t>window=5, sg=1 → Skip-gram</a:t>
            </a:r>
          </a:p>
          <a:p>
            <a:pPr>
              <a:spcAft>
                <a:spcPts val="200"/>
              </a:spcAft>
              <a:defRPr sz="1400" b="0">
                <a:solidFill>
                  <a:srgbClr val="BBBBBB"/>
                </a:solidFill>
                <a:latin typeface="Calibri"/>
              </a:defRPr>
            </a:pPr>
            <a:r>
              <a:t>epochs=20, min_count=2</a:t>
            </a:r>
          </a:p>
          <a:p>
            <a:pPr>
              <a:spcAft>
                <a:spcPts val="200"/>
              </a:spcAft>
              <a:defRPr sz="1400" b="0">
                <a:solidFill>
                  <a:srgbClr val="BBBBBB"/>
                </a:solidFill>
                <a:latin typeface="Calibri"/>
              </a:defRPr>
            </a:pPr>
            <a:r>
              <a:t>Trained on headline corpus</a:t>
            </a:r>
          </a:p>
          <a:p>
            <a:pPr>
              <a:spcAft>
                <a:spcPts val="200"/>
              </a:spcAft>
              <a:defRPr sz="600" b="0">
                <a:solidFill>
                  <a:srgbClr val="BBBBBB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400" b="0">
                <a:solidFill>
                  <a:srgbClr val="2ECC71"/>
                </a:solidFill>
                <a:latin typeface="Calibri"/>
              </a:defRPr>
            </a:pPr>
            <a:r>
              <a:t>Result: 200 dense dimensions</a:t>
            </a:r>
          </a:p>
          <a:p>
            <a:pPr>
              <a:spcAft>
                <a:spcPts val="200"/>
              </a:spcAft>
              <a:defRPr sz="1400" b="0">
                <a:solidFill>
                  <a:srgbClr val="888888"/>
                </a:solidFill>
                <a:latin typeface="Calibri"/>
              </a:defRPr>
            </a:pPr>
            <a:r>
              <a:t>Similar words: trump↔obama (0.82)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394960"/>
            <a:ext cx="10789920" cy="1097280"/>
          </a:xfrm>
          <a:prstGeom prst="roundRect">
            <a:avLst/>
          </a:prstGeom>
          <a:solidFill>
            <a:srgbClr val="1A1A35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48640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F39C12"/>
                </a:solidFill>
                <a:latin typeface="Calibri"/>
              </a:defRPr>
            </a:pPr>
            <a:r>
              <a:t>🔥 TF-IDF (8,000 features) vs Word2Vec (200 features): Comparable accuracy — 40× fewer dimensions with Word2Vec!</a:t>
            </a:r>
          </a:p>
          <a:p>
            <a:pPr>
              <a:spcAft>
                <a:spcPts val="300"/>
              </a:spcAft>
              <a:defRPr sz="1500" b="0">
                <a:solidFill>
                  <a:srgbClr val="BBBBBB"/>
                </a:solidFill>
                <a:latin typeface="Calibri"/>
              </a:defRPr>
            </a:pPr>
            <a:r>
              <a:t>TF-IDF + Logistic Regression: 93.3%  |  Word2Vec + Logistic Regression: ~91%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Model Training — Baselines &amp; Hyperparameter Tuning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BBBB"/>
                </a:solidFill>
                <a:latin typeface="Calibri"/>
              </a:defRPr>
            </a:pPr>
            <a:r>
              <a:t>4 models: Logistic Regression, Random Forest, XGBoost, Gradient Boosting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74C3C"/>
                </a:solidFill>
                <a:latin typeface="Calibri"/>
              </a:defRPr>
            </a:pPr>
            <a:r>
              <a:t>BASELINES (default params)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783080"/>
          <a:ext cx="5029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46888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E74C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E74C3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Logistic Regression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93.05% 🥇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Random Forest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91.20%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XGBoost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87.70%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Gradient Boosting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79.71%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  <a:latin typeface="Calibri"/>
              </a:defRPr>
            </a:pPr>
            <a:r>
              <a:t>TUNED (RandomizedSearchCV)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0" y="1783080"/>
          <a:ext cx="5029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46888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2ECC7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2EC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Logistic Regression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93.27% 🥇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Random Forest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90.73%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Gradient Boosting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89.20%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XGBoost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83.84%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931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Tuning Strategy: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9768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600" b="1">
                <a:solidFill>
                  <a:srgbClr val="3498DB"/>
                </a:solidFill>
                <a:latin typeface="Calibri"/>
              </a:defRPr>
            </a:pPr>
            <a:r>
              <a:t>RandomizedSearchCV</a:t>
            </a:r>
          </a:p>
          <a:p>
            <a:pPr>
              <a:spcAft>
                <a:spcPts val="200"/>
              </a:spcAft>
              <a:defRPr sz="1400" b="0">
                <a:solidFill>
                  <a:srgbClr val="BBBBBB"/>
                </a:solidFill>
                <a:latin typeface="Calibri"/>
              </a:defRPr>
            </a:pPr>
            <a:r>
              <a:t>• n_iter=5, cv=StratifiedKFold(2)</a:t>
            </a:r>
          </a:p>
          <a:p>
            <a:pPr>
              <a:spcAft>
                <a:spcPts val="200"/>
              </a:spcAft>
              <a:defRPr sz="1400" b="0">
                <a:solidFill>
                  <a:srgbClr val="BBBBBB"/>
                </a:solidFill>
                <a:latin typeface="Calibri"/>
              </a:defRPr>
            </a:pPr>
            <a:r>
              <a:t>• scoring='f1_macro'</a:t>
            </a:r>
          </a:p>
          <a:p>
            <a:pPr>
              <a:spcAft>
                <a:spcPts val="200"/>
              </a:spcAft>
              <a:defRPr sz="1400" b="0">
                <a:solidFill>
                  <a:srgbClr val="BBBBBB"/>
                </a:solidFill>
                <a:latin typeface="Calibri"/>
              </a:defRPr>
            </a:pPr>
            <a:r>
              <a:t>• LR: C, penalty, solver</a:t>
            </a:r>
          </a:p>
          <a:p>
            <a:pPr>
              <a:spcAft>
                <a:spcPts val="200"/>
              </a:spcAft>
              <a:defRPr sz="1400" b="0">
                <a:solidFill>
                  <a:srgbClr val="BBBBBB"/>
                </a:solidFill>
                <a:latin typeface="Calibri"/>
              </a:defRPr>
            </a:pPr>
            <a:r>
              <a:t>• RF: n_estimators, max_depth, max_features</a:t>
            </a:r>
          </a:p>
          <a:p>
            <a:pPr>
              <a:spcAft>
                <a:spcPts val="200"/>
              </a:spcAft>
              <a:defRPr sz="1400" b="0">
                <a:solidFill>
                  <a:srgbClr val="BBBBBB"/>
                </a:solidFill>
                <a:latin typeface="Calibri"/>
              </a:defRPr>
            </a:pPr>
            <a:r>
              <a:t>• XGB: max_depth, learning_rate, subsample</a:t>
            </a:r>
          </a:p>
          <a:p>
            <a:pPr>
              <a:spcAft>
                <a:spcPts val="200"/>
              </a:spcAft>
              <a:defRPr sz="1400" b="0">
                <a:solidFill>
                  <a:srgbClr val="BBBBBB"/>
                </a:solidFill>
                <a:latin typeface="Calibri"/>
              </a:defRPr>
            </a:pPr>
            <a:r>
              <a:t>• GB: n_estimators, learning_rate, max_depth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429768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600" b="1">
                <a:solidFill>
                  <a:srgbClr val="F39C12"/>
                </a:solidFill>
                <a:latin typeface="Calibri"/>
              </a:defRPr>
            </a:pPr>
            <a:r>
              <a:t>Key Observations:</a:t>
            </a:r>
          </a:p>
          <a:p>
            <a:pPr>
              <a:spcAft>
                <a:spcPts val="200"/>
              </a:spcAft>
              <a:defRPr sz="1400" b="0">
                <a:solidFill>
                  <a:srgbClr val="BBBBBB"/>
                </a:solidFill>
                <a:latin typeface="Calibri"/>
              </a:defRPr>
            </a:pPr>
            <a:r>
              <a:t>• Logistic Regression wins — simple &amp; fast!</a:t>
            </a:r>
          </a:p>
          <a:p>
            <a:pPr>
              <a:spcAft>
                <a:spcPts val="200"/>
              </a:spcAft>
              <a:defRPr sz="1400" b="0">
                <a:solidFill>
                  <a:srgbClr val="BBBBBB"/>
                </a:solidFill>
                <a:latin typeface="Calibri"/>
              </a:defRPr>
            </a:pPr>
            <a:r>
              <a:t>• GB: +10% from tuning (79.7% → 89.2%) 🔥</a:t>
            </a:r>
          </a:p>
          <a:p>
            <a:pPr>
              <a:spcAft>
                <a:spcPts val="200"/>
              </a:spcAft>
              <a:defRPr sz="1400" b="0">
                <a:solidFill>
                  <a:srgbClr val="BBBBBB"/>
                </a:solidFill>
                <a:latin typeface="Calibri"/>
              </a:defRPr>
            </a:pPr>
            <a:r>
              <a:t>• XGBoost underperformed on this dataset</a:t>
            </a:r>
          </a:p>
          <a:p>
            <a:pPr>
              <a:spcAft>
                <a:spcPts val="200"/>
              </a:spcAft>
              <a:defRPr sz="1400" b="0">
                <a:solidFill>
                  <a:srgbClr val="BBBBBB"/>
                </a:solidFill>
                <a:latin typeface="Calibri"/>
              </a:defRPr>
            </a:pPr>
            <a:r>
              <a:t>• LR baseline was already 93% — hard to beat</a:t>
            </a:r>
          </a:p>
          <a:p>
            <a:pPr>
              <a:spcAft>
                <a:spcPts val="200"/>
              </a:spcAft>
              <a:defRPr sz="1400" b="0">
                <a:solidFill>
                  <a:srgbClr val="BBBBBB"/>
                </a:solidFill>
                <a:latin typeface="Calibri"/>
              </a:defRPr>
            </a:pPr>
            <a:r>
              <a:t>• All models: ROC-AUC &gt; 0.93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Final Results — Model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BBBB"/>
                </a:solidFill>
                <a:latin typeface="Calibri"/>
              </a:defRPr>
            </a:pPr>
            <a:r>
              <a:t>Logistic Regression wins at 93.27% accuracy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94183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4572000"/>
                <a:gridCol w="1371600"/>
                <a:gridCol w="1371600"/>
                <a:gridCol w="137160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Rank</a:t>
                      </a:r>
                    </a:p>
                  </a:txBody>
                  <a:tcPr>
                    <a:solidFill>
                      <a:srgbClr val="3498D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3498D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Features</a:t>
                      </a:r>
                    </a:p>
                  </a:txBody>
                  <a:tcPr>
                    <a:solidFill>
                      <a:srgbClr val="3498D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3498D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F1-Macro</a:t>
                      </a:r>
                    </a:p>
                  </a:txBody>
                  <a:tcPr>
                    <a:solidFill>
                      <a:srgbClr val="3498D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🥇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TF-IDF + Logistic Regression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8,000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93.27%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0.9326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🥈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TF-IDF + Random Forest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8,000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90.73%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0.9071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🥉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TF-IDF + Gradient Boosting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8,000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89.20%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0.8919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TF-IDF + XGBoost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8,000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83.84%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0.8371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474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Confusion Matrix — Best Model (LR):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840480"/>
          <a:ext cx="530352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737360"/>
                <a:gridCol w="173736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3498D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Predicted Fake</a:t>
                      </a:r>
                    </a:p>
                  </a:txBody>
                  <a:tcPr>
                    <a:solidFill>
                      <a:srgbClr val="3498D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Predicted Real</a:t>
                      </a:r>
                    </a:p>
                  </a:txBody>
                  <a:tcPr>
                    <a:solidFill>
                      <a:srgbClr val="3498D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Actual Fake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~91% ✅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~9% (False Positive)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Actual Real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~5% (False Negative)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~95% ✅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34747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2ECC71"/>
                </a:solidFill>
                <a:latin typeface="Calibri"/>
              </a:defRPr>
            </a:pPr>
            <a:r>
              <a:t>ROC-AUC: 0.9825 — Near-Perfect Separation</a:t>
            </a:r>
          </a:p>
          <a:p>
            <a:pPr>
              <a:spcAft>
                <a:spcPts val="200"/>
              </a:spcAft>
              <a:defRPr sz="1400" b="0">
                <a:solidFill>
                  <a:srgbClr val="BBBBBB"/>
                </a:solidFill>
                <a:latin typeface="Calibri"/>
              </a:defRPr>
            </a:pPr>
            <a:r>
              <a:t>• Logistic Regression: AUC = 0.9825 🥇</a:t>
            </a:r>
          </a:p>
          <a:p>
            <a:pPr>
              <a:spcAft>
                <a:spcPts val="200"/>
              </a:spcAft>
              <a:defRPr sz="1400" b="0">
                <a:solidFill>
                  <a:srgbClr val="BBBBBB"/>
                </a:solidFill>
                <a:latin typeface="Calibri"/>
              </a:defRPr>
            </a:pPr>
            <a:r>
              <a:t>• Random Forest: AUC = 0.9682</a:t>
            </a:r>
          </a:p>
          <a:p>
            <a:pPr>
              <a:spcAft>
                <a:spcPts val="200"/>
              </a:spcAft>
              <a:defRPr sz="1400" b="0">
                <a:solidFill>
                  <a:srgbClr val="BBBBBB"/>
                </a:solidFill>
                <a:latin typeface="Calibri"/>
              </a:defRPr>
            </a:pPr>
            <a:r>
              <a:t>• Gradient Boosting: AUC = 0.9626</a:t>
            </a:r>
          </a:p>
          <a:p>
            <a:pPr>
              <a:spcAft>
                <a:spcPts val="200"/>
              </a:spcAft>
              <a:defRPr sz="1400" b="0">
                <a:solidFill>
                  <a:srgbClr val="BBBBBB"/>
                </a:solidFill>
                <a:latin typeface="Calibri"/>
              </a:defRPr>
            </a:pPr>
            <a:r>
              <a:t>• XGBoost: AUC = 0.9292</a:t>
            </a:r>
          </a:p>
          <a:p>
            <a:pPr>
              <a:spcAft>
                <a:spcPts val="200"/>
              </a:spcAft>
              <a:defRPr sz="600" b="0">
                <a:solidFill>
                  <a:srgbClr val="BBBBBB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400" b="0">
                <a:solidFill>
                  <a:srgbClr val="BBBBBB"/>
                </a:solidFill>
                <a:latin typeface="Calibri"/>
              </a:defRPr>
            </a:pPr>
            <a:r>
              <a:t>Low false negatives (5%) — model rarely</a:t>
            </a:r>
          </a:p>
          <a:p>
            <a:pPr>
              <a:spcAft>
                <a:spcPts val="200"/>
              </a:spcAft>
              <a:defRPr sz="1400" b="0">
                <a:solidFill>
                  <a:srgbClr val="BBBBBB"/>
                </a:solidFill>
                <a:latin typeface="Calibri"/>
              </a:defRPr>
            </a:pPr>
            <a:r>
              <a:t>calls real news 'fake', the safer error direction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5486400"/>
            <a:ext cx="5029200" cy="914400"/>
          </a:xfrm>
          <a:prstGeom prst="roundRect">
            <a:avLst/>
          </a:prstGeom>
          <a:solidFill>
            <a:srgbClr val="1A2A1A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5577840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Calibri"/>
              </a:defRPr>
            </a:pPr>
            <a:r>
              <a:t>🔥 Gradient Boosting: 79.7% → 89.2% (+10%)</a:t>
            </a:r>
            <a:br/>
            <a:r>
              <a:t>Hyperparameter tuning is transformative!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Accuracy Estimation — Deliverable #3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BBBB"/>
                </a:solidFill>
                <a:latin typeface="Calibri"/>
              </a:defRPr>
            </a:pPr>
            <a:r>
              <a:t>Expected performance on unseen test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200" b="1">
                <a:solidFill>
                  <a:srgbClr val="F39C12"/>
                </a:solidFill>
                <a:latin typeface="Calibri"/>
              </a:defRPr>
            </a:pPr>
            <a:r>
              <a:t>Expected Performance on Unseen Test Data:</a:t>
            </a:r>
          </a:p>
          <a:p>
            <a:pPr>
              <a:spcAft>
                <a:spcPts val="400"/>
              </a:spcAft>
              <a:defRPr sz="800" b="0">
                <a:solidFill>
                  <a:srgbClr val="BBBBB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📊 Accuracy: ~93% — correctly classifies 93 out of 100 headlines</a:t>
            </a:r>
          </a:p>
          <a:p>
            <a:pPr>
              <a:spcAft>
                <a:spcPts val="40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📊 F1 Score (Macro): ~0.93 — balanced across Fake and Real classes</a:t>
            </a:r>
          </a:p>
          <a:p>
            <a:pPr>
              <a:spcAft>
                <a:spcPts val="40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📊 ROC-AUC: ~0.98 — near-perfect class separation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47472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000" b="1">
                <a:solidFill>
                  <a:srgbClr val="3498DB"/>
                </a:solidFill>
                <a:latin typeface="Calibri"/>
              </a:defRPr>
            </a:pPr>
            <a:r>
              <a:t>Why Logistic Regression?</a:t>
            </a:r>
          </a:p>
          <a:p>
            <a:pPr>
              <a:spcAft>
                <a:spcPts val="200"/>
              </a:spcAft>
              <a:defRPr sz="1500" b="0">
                <a:solidFill>
                  <a:srgbClr val="BBBBBB"/>
                </a:solidFill>
                <a:latin typeface="Calibri"/>
              </a:defRPr>
            </a:pPr>
            <a:r>
              <a:t>• Highest accuracy (93.27%)</a:t>
            </a:r>
          </a:p>
          <a:p>
            <a:pPr>
              <a:spcAft>
                <a:spcPts val="200"/>
              </a:spcAft>
              <a:defRPr sz="1500" b="0">
                <a:solidFill>
                  <a:srgbClr val="BBBBBB"/>
                </a:solidFill>
                <a:latin typeface="Calibri"/>
              </a:defRPr>
            </a:pPr>
            <a:r>
              <a:t>• Best F1 score (0.9326)</a:t>
            </a:r>
          </a:p>
          <a:p>
            <a:pPr>
              <a:spcAft>
                <a:spcPts val="200"/>
              </a:spcAft>
              <a:defRPr sz="1500" b="0">
                <a:solidFill>
                  <a:srgbClr val="BBBBBB"/>
                </a:solidFill>
                <a:latin typeface="Calibri"/>
              </a:defRPr>
            </a:pPr>
            <a:r>
              <a:t>• Fastest to train and predict</a:t>
            </a:r>
          </a:p>
          <a:p>
            <a:pPr>
              <a:spcAft>
                <a:spcPts val="200"/>
              </a:spcAft>
              <a:defRPr sz="1500" b="0">
                <a:solidFill>
                  <a:srgbClr val="BBBBBB"/>
                </a:solidFill>
                <a:latin typeface="Calibri"/>
              </a:defRPr>
            </a:pPr>
            <a:r>
              <a:t>• Most interpretable — coefficients</a:t>
            </a:r>
          </a:p>
          <a:p>
            <a:pPr>
              <a:spcAft>
                <a:spcPts val="200"/>
              </a:spcAft>
              <a:defRPr sz="1500" b="0">
                <a:solidFill>
                  <a:srgbClr val="BBBBBB"/>
                </a:solidFill>
                <a:latin typeface="Calibri"/>
              </a:defRPr>
            </a:pPr>
            <a:r>
              <a:t>  directly show word importance</a:t>
            </a:r>
          </a:p>
          <a:p>
            <a:pPr>
              <a:spcAft>
                <a:spcPts val="200"/>
              </a:spcAft>
              <a:defRPr sz="1500" b="0">
                <a:solidFill>
                  <a:srgbClr val="BBBBBB"/>
                </a:solidFill>
                <a:latin typeface="Calibri"/>
              </a:defRPr>
            </a:pPr>
            <a:r>
              <a:t>• No complex hyperparameters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47472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000" b="1">
                <a:solidFill>
                  <a:srgbClr val="2ECC71"/>
                </a:solidFill>
                <a:latin typeface="Calibri"/>
              </a:defRPr>
            </a:pPr>
            <a:r>
              <a:t>Error Analysis:</a:t>
            </a:r>
          </a:p>
          <a:p>
            <a:pPr>
              <a:spcAft>
                <a:spcPts val="200"/>
              </a:spcAft>
              <a:defRPr sz="1500" b="0">
                <a:solidFill>
                  <a:srgbClr val="BBBBBB"/>
                </a:solidFill>
                <a:latin typeface="Calibri"/>
              </a:defRPr>
            </a:pPr>
            <a:r>
              <a:t>• False Negatives (~5%): Real news</a:t>
            </a:r>
          </a:p>
          <a:p>
            <a:pPr>
              <a:spcAft>
                <a:spcPts val="200"/>
              </a:spcAft>
              <a:defRPr sz="1500" b="0">
                <a:solidFill>
                  <a:srgbClr val="BBBBBB"/>
                </a:solidFill>
                <a:latin typeface="Calibri"/>
              </a:defRPr>
            </a:pPr>
            <a:r>
              <a:t>  classified as fake — safer error</a:t>
            </a:r>
          </a:p>
          <a:p>
            <a:pPr>
              <a:spcAft>
                <a:spcPts val="200"/>
              </a:spcAft>
              <a:defRPr sz="1500" b="0">
                <a:solidFill>
                  <a:srgbClr val="BBBBBB"/>
                </a:solidFill>
                <a:latin typeface="Calibri"/>
              </a:defRPr>
            </a:pPr>
            <a:r>
              <a:t>• False Positives (~9%): Fake news</a:t>
            </a:r>
          </a:p>
          <a:p>
            <a:pPr>
              <a:spcAft>
                <a:spcPts val="200"/>
              </a:spcAft>
              <a:defRPr sz="1500" b="0">
                <a:solidFill>
                  <a:srgbClr val="BBBBBB"/>
                </a:solidFill>
                <a:latin typeface="Calibri"/>
              </a:defRPr>
            </a:pPr>
            <a:r>
              <a:t>  classified as real — more dangerous</a:t>
            </a:r>
          </a:p>
          <a:p>
            <a:pPr>
              <a:spcAft>
                <a:spcPts val="200"/>
              </a:spcAft>
              <a:defRPr sz="1500" b="0">
                <a:solidFill>
                  <a:srgbClr val="BBBBBB"/>
                </a:solidFill>
                <a:latin typeface="Calibri"/>
              </a:defRPr>
            </a:pPr>
            <a:r>
              <a:t>• Classes balanced (51.5/48.5)</a:t>
            </a:r>
          </a:p>
          <a:p>
            <a:pPr>
              <a:spcAft>
                <a:spcPts val="200"/>
              </a:spcAft>
              <a:defRPr sz="1500" b="0">
                <a:solidFill>
                  <a:srgbClr val="BBBBBB"/>
                </a:solidFill>
                <a:latin typeface="Calibri"/>
              </a:defRPr>
            </a:pPr>
            <a:r>
              <a:t>  → Accuracy is a reliable metric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Key Technical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BBBB"/>
                </a:solidFill>
                <a:latin typeface="Calibri"/>
              </a:defRPr>
            </a:pPr>
            <a:r>
              <a:t>What we learned from building this classifier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1463040"/>
            <a:ext cx="411480" cy="41148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44475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ECC71"/>
                </a:solidFill>
                <a:latin typeface="Calibri"/>
              </a:defRPr>
            </a:pPr>
            <a:r>
              <a:t>Logistic Regression wins — simplicity beats complexity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564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BB"/>
                </a:solidFill>
                <a:latin typeface="Calibri"/>
              </a:defRPr>
            </a:pPr>
            <a:r>
              <a:t>93.27% with a linear model. Well-engineered features &gt; complex algorithms.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212848"/>
            <a:ext cx="411480" cy="411480"/>
          </a:xfrm>
          <a:prstGeom prst="ellipse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258568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3498DB"/>
                </a:solidFill>
                <a:latin typeface="Calibri"/>
              </a:defRPr>
            </a:pPr>
            <a:r>
              <a:t>Word2Vec matches TF-IDF with 40× fewer features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05456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BB"/>
                </a:solidFill>
                <a:latin typeface="Calibri"/>
              </a:defRPr>
            </a:pPr>
            <a:r>
              <a:t>200 dense dimensions vs 8,000 sparse — ideal for production at scale.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2962656"/>
            <a:ext cx="411480" cy="411480"/>
          </a:xfrm>
          <a:prstGeom prst="ellipse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008376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94436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9B59B6"/>
                </a:solidFill>
                <a:latin typeface="Calibri"/>
              </a:defRPr>
            </a:pPr>
            <a:r>
              <a:t>N-grams capture critical phrases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255264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BB"/>
                </a:solidFill>
                <a:latin typeface="Calibri"/>
              </a:defRPr>
            </a:pPr>
            <a:r>
              <a:t>'white house', 'north korea' — unigrams alone would miss these signals.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3712464"/>
            <a:ext cx="411480" cy="41148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758184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694176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E74C3C"/>
                </a:solidFill>
                <a:latin typeface="Calibri"/>
              </a:defRPr>
            </a:pPr>
            <a:r>
              <a:t>Classes are balanced — no oversampling needed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00507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BB"/>
                </a:solidFill>
                <a:latin typeface="Calibri"/>
              </a:defRPr>
            </a:pPr>
            <a:r>
              <a:t>51.5%/48.5% split. Always verify before applying SMOTE or similar.</a:t>
            </a:r>
          </a:p>
        </p:txBody>
      </p:sp>
      <p:sp>
        <p:nvSpPr>
          <p:cNvPr id="22" name="Oval 21"/>
          <p:cNvSpPr/>
          <p:nvPr/>
        </p:nvSpPr>
        <p:spPr>
          <a:xfrm>
            <a:off x="640080" y="4462272"/>
            <a:ext cx="411480" cy="411480"/>
          </a:xfrm>
          <a:prstGeom prst="ellipse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507992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443984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39C12"/>
                </a:solidFill>
                <a:latin typeface="Calibri"/>
              </a:defRPr>
            </a:pPr>
            <a:r>
              <a:t>Hyperparameter tuning is transformative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47548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BB"/>
                </a:solidFill>
                <a:latin typeface="Calibri"/>
              </a:defRPr>
            </a:pPr>
            <a:r>
              <a:t>Gradient Boosting: 79.7% → 89.2% F1 (+10%). Never skip tuning!</a:t>
            </a:r>
          </a:p>
        </p:txBody>
      </p:sp>
      <p:sp>
        <p:nvSpPr>
          <p:cNvPr id="26" name="Oval 25"/>
          <p:cNvSpPr/>
          <p:nvPr/>
        </p:nvSpPr>
        <p:spPr>
          <a:xfrm>
            <a:off x="640080" y="5212079"/>
            <a:ext cx="411480" cy="41148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257799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519379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E74C3C"/>
                </a:solidFill>
                <a:latin typeface="Calibri"/>
              </a:defRPr>
            </a:pPr>
            <a:r>
              <a:t>Preprocessing matters as much as model choice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550468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BB"/>
                </a:solidFill>
                <a:latin typeface="Calibri"/>
              </a:defRPr>
            </a:pPr>
            <a:r>
              <a:t>Custom stopwords (said, says, new) can shift accuracy by 1-2%.</a:t>
            </a:r>
          </a:p>
        </p:txBody>
      </p:sp>
      <p:sp>
        <p:nvSpPr>
          <p:cNvPr id="30" name="Oval 29"/>
          <p:cNvSpPr/>
          <p:nvPr/>
        </p:nvSpPr>
        <p:spPr>
          <a:xfrm>
            <a:off x="640080" y="5961888"/>
            <a:ext cx="411480" cy="411480"/>
          </a:xfrm>
          <a:prstGeom prst="ellipse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007607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" y="59436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3498DB"/>
                </a:solidFill>
                <a:latin typeface="Calibri"/>
              </a:defRPr>
            </a:pPr>
            <a:r>
              <a:t>Where would Transformers take us?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88720" y="6254496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BB"/>
                </a:solidFill>
                <a:latin typeface="Calibri"/>
              </a:defRPr>
            </a:pPr>
            <a:r>
              <a:t>BERT/RoBERTa would likely hit 95-97% — at 100× compute cost.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Production Path — If This Were Real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BBBB"/>
                </a:solidFill>
                <a:latin typeface="Calibri"/>
              </a:defRPr>
            </a:pPr>
            <a:r>
              <a:t>Architecture and next steps for a deployable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63040"/>
            <a:ext cx="1463040" cy="914400"/>
          </a:xfrm>
          <a:prstGeom prst="roundRect">
            <a:avLst/>
          </a:prstGeom>
          <a:solidFill>
            <a:srgbClr val="1E1E3A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572768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74C3C"/>
                </a:solidFill>
                <a:latin typeface="Calibri"/>
              </a:defRPr>
            </a:pPr>
            <a:r>
              <a:t>News</a:t>
            </a:r>
            <a:br/>
            <a:r>
              <a:t>Headline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920240" y="1783080"/>
            <a:ext cx="182880" cy="274320"/>
          </a:xfrm>
          <a:prstGeom prst="rightArrow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03120" y="1463040"/>
            <a:ext cx="1463040" cy="914400"/>
          </a:xfrm>
          <a:prstGeom prst="roundRect">
            <a:avLst/>
          </a:prstGeom>
          <a:solidFill>
            <a:srgbClr val="1E1E3A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48839" y="1572768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39C12"/>
                </a:solidFill>
                <a:latin typeface="Calibri"/>
              </a:defRPr>
            </a:pPr>
            <a:r>
              <a:t>Preprocessing</a:t>
            </a:r>
            <a:br/>
            <a:r>
              <a:t>Pipeline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566160" y="1783080"/>
            <a:ext cx="182880" cy="274320"/>
          </a:xfrm>
          <a:prstGeom prst="rightArrow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749039" y="1463040"/>
            <a:ext cx="1463040" cy="914400"/>
          </a:xfrm>
          <a:prstGeom prst="roundRect">
            <a:avLst/>
          </a:prstGeom>
          <a:solidFill>
            <a:srgbClr val="1E1E3A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94759" y="1572768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CC71"/>
                </a:solidFill>
                <a:latin typeface="Calibri"/>
              </a:defRPr>
            </a:pPr>
            <a:r>
              <a:t>TF-IDF</a:t>
            </a:r>
            <a:br/>
            <a:r>
              <a:t>Transform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212079" y="1783080"/>
            <a:ext cx="182880" cy="274320"/>
          </a:xfrm>
          <a:prstGeom prst="rightArrow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94960" y="1463040"/>
            <a:ext cx="1463040" cy="914400"/>
          </a:xfrm>
          <a:prstGeom prst="roundRect">
            <a:avLst/>
          </a:prstGeom>
          <a:solidFill>
            <a:srgbClr val="1E1E3A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40680" y="1572768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498DB"/>
                </a:solidFill>
                <a:latin typeface="Calibri"/>
              </a:defRPr>
            </a:pPr>
            <a:r>
              <a:t>Logistic</a:t>
            </a:r>
            <a:br/>
            <a:r>
              <a:t>Regression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858000" y="1783080"/>
            <a:ext cx="182880" cy="274320"/>
          </a:xfrm>
          <a:prstGeom prst="rightArrow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040880" y="1463040"/>
            <a:ext cx="1463040" cy="914400"/>
          </a:xfrm>
          <a:prstGeom prst="roundRect">
            <a:avLst/>
          </a:prstGeom>
          <a:solidFill>
            <a:srgbClr val="1E1E3A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86600" y="1572768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9B59B6"/>
                </a:solidFill>
                <a:latin typeface="Calibri"/>
              </a:defRPr>
            </a:pPr>
            <a:r>
              <a:t>Score &gt; 0.5?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0" y="1463040"/>
            <a:ext cx="1463040" cy="914400"/>
          </a:xfrm>
          <a:prstGeom prst="roundRect">
            <a:avLst/>
          </a:prstGeom>
          <a:solidFill>
            <a:srgbClr val="1E1E3A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2520" y="1572768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74C3C"/>
                </a:solidFill>
                <a:latin typeface="Calibri"/>
              </a:defRPr>
            </a:pPr>
            <a:r>
              <a:t>FAKE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332720" y="1463040"/>
            <a:ext cx="1463040" cy="914400"/>
          </a:xfrm>
          <a:prstGeom prst="roundRect">
            <a:avLst/>
          </a:prstGeom>
          <a:solidFill>
            <a:srgbClr val="1E1E3A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78440" y="1572768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CC71"/>
                </a:solidFill>
                <a:latin typeface="Calibri"/>
              </a:defRPr>
            </a:pPr>
            <a:r>
              <a:t>REAL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1463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→ FAKE</a:t>
            </a:r>
            <a:br/>
            <a:r>
              <a:t>→ REAL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0" y="2560320"/>
            <a:ext cx="2926080" cy="640080"/>
          </a:xfrm>
          <a:prstGeom prst="roundRect">
            <a:avLst/>
          </a:prstGeom>
          <a:solidFill>
            <a:srgbClr val="2A1A0A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6440" y="2633472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39C12"/>
                </a:solidFill>
                <a:latin typeface="Calibri"/>
              </a:defRPr>
            </a:pPr>
            <a:r>
              <a:t>⚠️  Confidence &lt; 0.7?</a:t>
            </a:r>
            <a:br/>
            <a:r>
              <a:t>→ Human Review Queue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3566160"/>
            <a:ext cx="5029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Next Steps:</a:t>
            </a:r>
          </a:p>
          <a:p>
            <a:pPr>
              <a:spcAft>
                <a:spcPts val="100"/>
              </a:spcAft>
              <a:defRPr sz="1500" b="1">
                <a:solidFill>
                  <a:srgbClr val="3498DB"/>
                </a:solidFill>
                <a:latin typeface="Calibri"/>
              </a:defRPr>
            </a:pPr>
            <a:r>
              <a:t>1. Fine-tune distilBERT</a:t>
            </a:r>
          </a:p>
          <a:p>
            <a:pPr>
              <a:spcAft>
                <a:spcPts val="100"/>
              </a:spcAft>
              <a:defRPr sz="1300" b="0">
                <a:solidFill>
                  <a:srgbClr val="BBBBBB"/>
                </a:solidFill>
                <a:latin typeface="Calibri"/>
              </a:defRPr>
            </a:pPr>
            <a:r>
              <a:t>   3× smaller than BERT, ~95% expected</a:t>
            </a:r>
          </a:p>
          <a:p>
            <a:pPr>
              <a:spcAft>
                <a:spcPts val="100"/>
              </a:spcAft>
              <a:defRPr sz="1500" b="1">
                <a:solidFill>
                  <a:srgbClr val="3498DB"/>
                </a:solidFill>
                <a:latin typeface="Calibri"/>
              </a:defRPr>
            </a:pPr>
            <a:r>
              <a:t>2. Ensemble Voting Classifier</a:t>
            </a:r>
          </a:p>
          <a:p>
            <a:pPr>
              <a:spcAft>
                <a:spcPts val="100"/>
              </a:spcAft>
              <a:defRPr sz="1300" b="0">
                <a:solidFill>
                  <a:srgbClr val="BBBBBB"/>
                </a:solidFill>
                <a:latin typeface="Calibri"/>
              </a:defRPr>
            </a:pPr>
            <a:r>
              <a:t>   LR + RF + GB → reduce variance</a:t>
            </a:r>
          </a:p>
          <a:p>
            <a:pPr>
              <a:spcAft>
                <a:spcPts val="100"/>
              </a:spcAft>
              <a:defRPr sz="1500" b="1">
                <a:solidFill>
                  <a:srgbClr val="3498DB"/>
                </a:solidFill>
                <a:latin typeface="Calibri"/>
              </a:defRPr>
            </a:pPr>
            <a:r>
              <a:t>3. Add metadata features</a:t>
            </a:r>
          </a:p>
          <a:p>
            <a:pPr>
              <a:spcAft>
                <a:spcPts val="100"/>
              </a:spcAft>
              <a:defRPr sz="1300" b="0">
                <a:solidFill>
                  <a:srgbClr val="BBBBBB"/>
                </a:solidFill>
                <a:latin typeface="Calibri"/>
              </a:defRPr>
            </a:pPr>
            <a:r>
              <a:t>   Source domain, publish time, author</a:t>
            </a:r>
          </a:p>
          <a:p>
            <a:pPr>
              <a:spcAft>
                <a:spcPts val="100"/>
              </a:spcAft>
              <a:defRPr sz="1500" b="1">
                <a:solidFill>
                  <a:srgbClr val="3498DB"/>
                </a:solidFill>
                <a:latin typeface="Calibri"/>
              </a:defRPr>
            </a:pPr>
            <a:r>
              <a:t>4. Deploy as FastAPI microservice</a:t>
            </a:r>
          </a:p>
          <a:p>
            <a:pPr>
              <a:spcAft>
                <a:spcPts val="100"/>
              </a:spcAft>
              <a:defRPr sz="1300" b="0">
                <a:solidFill>
                  <a:srgbClr val="BBBBBB"/>
                </a:solidFill>
                <a:latin typeface="Calibri"/>
              </a:defRPr>
            </a:pPr>
            <a:r>
              <a:t>   &lt; 1ms inference per headline on CPU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566160"/>
            <a:ext cx="5029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Performance Summary:</a:t>
            </a:r>
          </a:p>
          <a:p>
            <a:pPr>
              <a:spcAft>
                <a:spcPts val="200"/>
              </a:spcAft>
              <a:defRPr sz="1600" b="1">
                <a:solidFill>
                  <a:srgbClr val="2ECC71"/>
                </a:solidFill>
                <a:latin typeface="Calibri"/>
              </a:defRPr>
            </a:pPr>
            <a:r>
              <a:t>Model:  Logistic Regression 🥇</a:t>
            </a:r>
          </a:p>
          <a:p>
            <a:pPr>
              <a:spcAft>
                <a:spcPts val="200"/>
              </a:spcAft>
              <a:defRPr sz="1600" b="0">
                <a:solidFill>
                  <a:srgbClr val="BBBBBB"/>
                </a:solidFill>
                <a:latin typeface="Calibri"/>
              </a:defRPr>
            </a:pPr>
            <a:r>
              <a:t>Features:  TF-IDF (8k n-grams 1-3)</a:t>
            </a:r>
          </a:p>
          <a:p>
            <a:pPr>
              <a:spcAft>
                <a:spcPts val="200"/>
              </a:spcAft>
              <a:defRPr sz="1600" b="1">
                <a:solidFill>
                  <a:srgbClr val="2ECC71"/>
                </a:solidFill>
                <a:latin typeface="Calibri"/>
              </a:defRPr>
            </a:pPr>
            <a:r>
              <a:t>Accuracy:  93.27%</a:t>
            </a:r>
          </a:p>
          <a:p>
            <a:pPr>
              <a:spcAft>
                <a:spcPts val="200"/>
              </a:spcAft>
              <a:defRPr sz="1600" b="0">
                <a:solidFill>
                  <a:srgbClr val="BBBBBB"/>
                </a:solidFill>
                <a:latin typeface="Calibri"/>
              </a:defRPr>
            </a:pPr>
            <a:r>
              <a:t>F1-Macro:  0.9326</a:t>
            </a:r>
          </a:p>
          <a:p>
            <a:pPr>
              <a:spcAft>
                <a:spcPts val="200"/>
              </a:spcAft>
              <a:defRPr sz="1600" b="0">
                <a:solidFill>
                  <a:srgbClr val="BBBBBB"/>
                </a:solidFill>
                <a:latin typeface="Calibri"/>
              </a:defRPr>
            </a:pPr>
            <a:r>
              <a:t>ROC-AUC:  0.9825</a:t>
            </a:r>
          </a:p>
          <a:p>
            <a:pPr>
              <a:spcAft>
                <a:spcPts val="200"/>
              </a:spcAft>
              <a:defRPr sz="1400" b="0">
                <a:solidFill>
                  <a:srgbClr val="888888"/>
                </a:solidFill>
                <a:latin typeface="Calibri"/>
              </a:defRPr>
            </a:pPr>
            <a:r>
              <a:t>Predictions saved to:</a:t>
            </a:r>
          </a:p>
          <a:p>
            <a:pPr>
              <a:spcAft>
                <a:spcPts val="200"/>
              </a:spcAft>
              <a:defRPr sz="1400" b="1">
                <a:solidFill>
                  <a:srgbClr val="2ECC71"/>
                </a:solidFill>
                <a:latin typeface="Calibri"/>
              </a:defRPr>
            </a:pPr>
            <a:r>
              <a:t>dataset/predictions.csv ✅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Calibri"/>
              </a:defRPr>
            </a:pPr>
            <a:r>
              <a:t>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2286000"/>
            <a:ext cx="3017520" cy="36576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400" b="1">
                <a:solidFill>
                  <a:srgbClr val="2ECC71"/>
                </a:solidFill>
                <a:latin typeface="Calibri"/>
              </a:defRPr>
            </a:pPr>
            <a:r>
              <a:t>NLP Classification with classical ML delivers 93%+ accuracy.</a:t>
            </a:r>
          </a:p>
          <a:p>
            <a:pPr>
              <a:spcAft>
                <a:spcPts val="400"/>
              </a:spcAft>
              <a:defRPr sz="1000" b="0">
                <a:solidFill>
                  <a:srgbClr val="BBBBB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 b="0">
                <a:solidFill>
                  <a:srgbClr val="BBBBBB"/>
                </a:solidFill>
                <a:latin typeface="Calibri"/>
              </a:defRPr>
            </a:pPr>
            <a:r>
              <a:t>For short-text tasks like headline classification,</a:t>
            </a:r>
          </a:p>
          <a:p>
            <a:pPr>
              <a:spcAft>
                <a:spcPts val="400"/>
              </a:spcAft>
              <a:defRPr sz="1800" b="0">
                <a:solidFill>
                  <a:srgbClr val="BBBBBB"/>
                </a:solidFill>
                <a:latin typeface="Calibri"/>
              </a:defRPr>
            </a:pPr>
            <a:r>
              <a:t>TF-IDF + Logistic Regression outperforms complex models —</a:t>
            </a:r>
          </a:p>
          <a:p>
            <a:pPr>
              <a:spcAft>
                <a:spcPts val="400"/>
              </a:spcAft>
              <a:defRPr sz="1800" b="0">
                <a:solidFill>
                  <a:srgbClr val="BBBBBB"/>
                </a:solidFill>
                <a:latin typeface="Calibri"/>
              </a:defRPr>
            </a:pPr>
            <a:r>
              <a:t>interpretable, fast, and production-ready —</a:t>
            </a:r>
          </a:p>
          <a:p>
            <a:pPr>
              <a:spcAft>
                <a:spcPts val="400"/>
              </a:spcAft>
              <a:defRPr sz="1800" b="0">
                <a:solidFill>
                  <a:srgbClr val="BBBBBB"/>
                </a:solidFill>
                <a:latin typeface="Calibri"/>
              </a:defRPr>
            </a:pPr>
            <a:r>
              <a:t>with zero GPU overhead.</a:t>
            </a:r>
          </a:p>
          <a:p>
            <a:pPr>
              <a:spcAft>
                <a:spcPts val="400"/>
              </a:spcAft>
              <a:defRPr sz="1000" b="0">
                <a:solidFill>
                  <a:srgbClr val="BBBBB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 b="1">
                <a:solidFill>
                  <a:srgbClr val="F39C12"/>
                </a:solidFill>
                <a:latin typeface="Calibri"/>
              </a:defRPr>
            </a:pPr>
            <a:r>
              <a:t>Well-engineered features &gt; complex algorithms.</a:t>
            </a:r>
          </a:p>
          <a:p>
            <a:pPr>
              <a:spcAft>
                <a:spcPts val="400"/>
              </a:spcAft>
              <a:defRPr sz="1800" b="1">
                <a:solidFill>
                  <a:srgbClr val="F39C12"/>
                </a:solidFill>
                <a:latin typeface="Calibri"/>
              </a:defRPr>
            </a:pPr>
            <a:r>
              <a:t>Simplicity wins.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6692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3498DB"/>
                </a:solidFill>
                <a:latin typeface="Calibri"/>
              </a:defRPr>
            </a:pPr>
            <a:r>
              <a:t>Final Model: Logistic Regression + TF-IDF (n-grams 1-3, 8k features)  •  Accuracy: 93.27%  •  F1: 0.9326  •  ROC-AUC: 0.9825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30936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BBBBB"/>
                </a:solidFill>
                <a:latin typeface="Calibri"/>
              </a:defRPr>
            </a:pPr>
            <a:r>
              <a:t>Thank you!  — 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