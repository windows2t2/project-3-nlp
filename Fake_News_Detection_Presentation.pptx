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47950" y="1982450"/>
            <a:ext cx="6350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Fake News Detection</a:t>
            </a:r>
            <a:br>
              <a:rPr dirty="0"/>
            </a:br>
            <a:r>
              <a:rPr dirty="0"/>
              <a:t>with NLP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1400" y="4034790"/>
            <a:ext cx="10332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498DB"/>
                </a:solidFill>
                <a:latin typeface="Calibri"/>
              </a:defRPr>
            </a:pPr>
            <a:r>
              <a:rPr dirty="0"/>
              <a:t>TF-IDF  •  Word2Vec  •  Logistic Regression   •  Random Forest  •  </a:t>
            </a:r>
            <a:r>
              <a:rPr dirty="0" err="1"/>
              <a:t>XGBoost</a:t>
            </a:r>
            <a:r>
              <a:rPr dirty="0"/>
              <a:t>  •  Gradient Boosting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28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Where NLP Classification Sits in the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The 5 Eras of Text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3750" y="1645920"/>
            <a:ext cx="1478280" cy="1463040"/>
          </a:xfrm>
          <a:prstGeom prst="roundRect">
            <a:avLst/>
          </a:prstGeom>
          <a:noFill/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74C3C"/>
                </a:solidFill>
                <a:latin typeface="Calibri"/>
              </a:defRPr>
            </a:pPr>
            <a:r>
              <a:t>1. Rule-Based</a:t>
            </a:r>
            <a:br/>
            <a:r>
              <a:t>1950s–1990s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Hand-crafted regex</a:t>
            </a:r>
            <a:br/>
            <a:r>
              <a:t>Keyword matching</a:t>
            </a:r>
            <a:br/>
            <a:r>
              <a:t>IF 'fake' THEN label=0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17750" y="2240280"/>
            <a:ext cx="711200" cy="27432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143250" y="1645920"/>
            <a:ext cx="1358900" cy="1463040"/>
          </a:xfrm>
          <a:prstGeom prst="roundRect">
            <a:avLst/>
          </a:prstGeom>
          <a:noFill/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80360" y="17373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9C12"/>
                </a:solidFill>
                <a:latin typeface="Calibri"/>
              </a:defRPr>
            </a:pPr>
            <a:r>
              <a:t>2. Classical ML</a:t>
            </a:r>
            <a:br/>
            <a:r>
              <a:t>2000s–2010s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286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TF-IDF + SVMs</a:t>
            </a:r>
            <a:br/>
            <a:r>
              <a:t>Logistic Regression</a:t>
            </a:r>
            <a:br/>
            <a:r>
              <a:t>Naive Bayes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603750" y="2240280"/>
            <a:ext cx="711200" cy="27432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373370" y="1645920"/>
            <a:ext cx="1358900" cy="1463040"/>
          </a:xfrm>
          <a:prstGeom prst="roundRect">
            <a:avLst/>
          </a:prstGeom>
          <a:noFill/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66360" y="17373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  <a:latin typeface="Calibri"/>
              </a:defRPr>
            </a:pPr>
            <a:r>
              <a:t>3. Embeddings</a:t>
            </a:r>
            <a:br/>
            <a:r>
              <a:t>2013–2018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286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Word2Vec, GloVe</a:t>
            </a:r>
            <a:br/>
            <a:r>
              <a:t>FastText</a:t>
            </a:r>
            <a:br/>
            <a:r>
              <a:t>← We are here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889750" y="2240280"/>
            <a:ext cx="711200" cy="27432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708900" y="1645920"/>
            <a:ext cx="1289050" cy="1463040"/>
          </a:xfrm>
          <a:prstGeom prst="roundRect">
            <a:avLst/>
          </a:prstGeom>
          <a:noFill/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52360" y="17373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98DB"/>
                </a:solidFill>
                <a:latin typeface="Calibri"/>
              </a:defRPr>
            </a:pPr>
            <a:r>
              <a:t>4. Deep RNNs</a:t>
            </a:r>
            <a:br/>
            <a:r>
              <a:t>2014–2019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286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LSTMs, GRUs</a:t>
            </a:r>
            <a:br/>
            <a:r>
              <a:t>BiLSTM + Attention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175750" y="2240280"/>
            <a:ext cx="711200" cy="27432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974580" y="1645920"/>
            <a:ext cx="1379220" cy="1463040"/>
          </a:xfrm>
          <a:prstGeom prst="roundRect">
            <a:avLst/>
          </a:prstGeom>
          <a:noFill/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38360" y="17373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B59B6"/>
                </a:solidFill>
                <a:latin typeface="Calibri"/>
              </a:defRPr>
            </a:pPr>
            <a:r>
              <a:t>5. Transformers</a:t>
            </a:r>
            <a:br/>
            <a:r>
              <a:t>2018–Today 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2286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BERT, GPT, LLMs</a:t>
            </a:r>
            <a:br/>
            <a:r>
              <a:t>RoBERTa, T5</a:t>
            </a:r>
            <a:br/>
            <a:r>
              <a:t>Current SOTA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37200" y="3383280"/>
            <a:ext cx="3517900" cy="914400"/>
          </a:xfrm>
          <a:prstGeom prst="roundRect">
            <a:avLst/>
          </a:prstGeom>
          <a:noFill/>
          <a:ln w="317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12080" y="3493008"/>
            <a:ext cx="420624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ECC71"/>
                </a:solidFill>
                <a:latin typeface="Calibri"/>
              </a:defRPr>
            </a:pPr>
            <a:r>
              <a:rPr dirty="0"/>
              <a:t>This Project: Classical ML + Embeddings</a:t>
            </a:r>
            <a:br>
              <a:rPr dirty="0"/>
            </a:br>
            <a:r>
              <a:rPr dirty="0"/>
              <a:t>93.3% accuracy • No GPU needed • Fully interpretable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754880"/>
            <a:ext cx="7595870" cy="1436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39C12"/>
                </a:solidFill>
                <a:latin typeface="Calibri"/>
              </a:defRPr>
            </a:pPr>
            <a:r>
              <a:rPr dirty="0"/>
              <a:t>Why Classical ML Still Dominates in Production:</a:t>
            </a:r>
          </a:p>
          <a:p>
            <a:pPr>
              <a:spcAft>
                <a:spcPts val="4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rPr dirty="0"/>
              <a:t>• Logistic Regression at 93.3% beats complex models — simplicity wins on well-engineered features</a:t>
            </a:r>
          </a:p>
          <a:p>
            <a:pPr>
              <a:spcAft>
                <a:spcPts val="4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rPr dirty="0"/>
              <a:t>• Interpretability — You can explain exactly WHY a headline was classified as fake (coefficients)</a:t>
            </a:r>
          </a:p>
          <a:p>
            <a:pPr>
              <a:spcAft>
                <a:spcPts val="4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rPr dirty="0"/>
              <a:t>• Speed — Trains in seconds on CPU; inference in microseconds per headline</a:t>
            </a:r>
          </a:p>
          <a:p>
            <a:pPr>
              <a:spcAft>
                <a:spcPts val="4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rPr dirty="0"/>
              <a:t>• Cost — No GPU needed; runs on a $5/month cloud instance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86130" y="493991"/>
            <a:ext cx="58623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Problem Statement &amp;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Goal: Build a classifier to distinguish Fake (0) vs Real (1) news headlines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207847"/>
              </p:ext>
            </p:extLst>
          </p:nvPr>
        </p:nvGraphicFramePr>
        <p:xfrm>
          <a:off x="1725930" y="2078990"/>
          <a:ext cx="715137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5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Fake News (label = 0)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Real News (label = 1)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~5,150 (51.5%)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~4,850 (48.5%)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Words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7.2 words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8.1 words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'Trump sends embarrassing New Year message'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'Fed raises interest rates by 0.25%'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Tone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Emotional, clickbait, sensational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Factual, institutional, measured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840480"/>
            <a:ext cx="6154420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498DB"/>
                </a:solidFill>
                <a:latin typeface="Calibri"/>
              </a:defRPr>
            </a:pPr>
            <a:r>
              <a:t>Format:  tab-separated — &lt;label&gt;\t&lt;headline&gt;</a:t>
            </a:r>
          </a:p>
          <a:p>
            <a:pPr>
              <a:spcAft>
                <a:spcPts val="6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t>✓ Nearly balanced dataset (51.5%/48.5%) — no oversampling needed</a:t>
            </a:r>
          </a:p>
          <a:p>
            <a:pPr>
              <a:spcAft>
                <a:spcPts val="6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t>✓ No missing values, no duplicate headlines</a:t>
            </a:r>
          </a:p>
          <a:p>
            <a:pPr>
              <a:spcAft>
                <a:spcPts val="6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t>✓ Short text — headlines are 5–15 words, ideal for TF-IDF and Word2Vec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1300" y="5457190"/>
            <a:ext cx="8794750" cy="530860"/>
          </a:xfrm>
          <a:prstGeom prst="roundRect">
            <a:avLst/>
          </a:prstGeom>
          <a:noFill/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68450" y="5548630"/>
            <a:ext cx="879475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39C12"/>
                </a:solidFill>
                <a:latin typeface="Calibri"/>
              </a:defRPr>
            </a:pPr>
            <a:r>
              <a:rPr dirty="0"/>
              <a:t>Key Challenge: Fake &amp; real share vocabulary — classification relies on subtle patterns, not obvious keywords.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5324" y="634930"/>
            <a:ext cx="533527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Text Preprocessing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5324" y="1320730"/>
            <a:ext cx="38481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rPr dirty="0"/>
              <a:t>Every decision here impacts final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968" y="1992560"/>
            <a:ext cx="1219196" cy="852170"/>
          </a:xfrm>
          <a:prstGeom prst="roundRect">
            <a:avLst/>
          </a:prstGeom>
          <a:noFill/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6724" y="2033962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74C3C"/>
                </a:solidFill>
                <a:latin typeface="Calibri"/>
              </a:defRPr>
            </a:pPr>
            <a:r>
              <a:t>1. Lowercase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24" y="250945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'Trump' → 'trump'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714506" y="2323839"/>
            <a:ext cx="137160" cy="22860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905008" y="1992560"/>
            <a:ext cx="1219196" cy="852170"/>
          </a:xfrm>
          <a:prstGeom prst="roundRect">
            <a:avLst/>
          </a:prstGeom>
          <a:noFill/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89763" y="2033962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39C12"/>
                </a:solidFill>
                <a:latin typeface="Calibri"/>
              </a:defRPr>
            </a:pPr>
            <a:r>
              <a:t>2. Remove</a:t>
            </a:r>
            <a:br/>
            <a:r>
              <a:t>URLs/HTML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89763" y="250945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regex: http...</a:t>
            </a:r>
            <a:br/>
            <a:r>
              <a:t>&lt;html&gt;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77546" y="2323839"/>
            <a:ext cx="137160" cy="22860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368048" y="1992560"/>
            <a:ext cx="1219196" cy="852170"/>
          </a:xfrm>
          <a:prstGeom prst="roundRect">
            <a:avLst/>
          </a:prstGeom>
          <a:noFill/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52804" y="2033962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3. Remove</a:t>
            </a:r>
            <a:br/>
            <a:r>
              <a:t>Punctuation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2804" y="250945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[^a-zA-Z\s]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640586" y="2323839"/>
            <a:ext cx="137160" cy="22860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31088" y="1992560"/>
            <a:ext cx="1219196" cy="852170"/>
          </a:xfrm>
          <a:prstGeom prst="roundRect">
            <a:avLst/>
          </a:prstGeom>
          <a:noFill/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15844" y="2033962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98DB"/>
                </a:solidFill>
                <a:latin typeface="Calibri"/>
              </a:defRPr>
            </a:pPr>
            <a:r>
              <a:t>4. Remove</a:t>
            </a:r>
            <a:br/>
            <a:r>
              <a:t>Numbers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5844" y="250945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\d+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103626" y="2323839"/>
            <a:ext cx="137160" cy="22860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294128" y="1992560"/>
            <a:ext cx="1219196" cy="852170"/>
          </a:xfrm>
          <a:prstGeom prst="roundRect">
            <a:avLst/>
          </a:prstGeom>
          <a:noFill/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78884" y="2033962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B59B6"/>
                </a:solidFill>
                <a:latin typeface="Calibri"/>
              </a:defRPr>
            </a:pPr>
            <a:r>
              <a:t>5. Tokenize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884" y="250945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nltk.word_tokenize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566666" y="2323839"/>
            <a:ext cx="137160" cy="22860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757168" y="1992560"/>
            <a:ext cx="1219196" cy="852170"/>
          </a:xfrm>
          <a:prstGeom prst="roundRect">
            <a:avLst/>
          </a:prstGeom>
          <a:noFill/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41924" y="2033962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74C3C"/>
                </a:solidFill>
                <a:latin typeface="Calibri"/>
              </a:defRPr>
            </a:pPr>
            <a:r>
              <a:t>6. Remove</a:t>
            </a:r>
            <a:br/>
            <a:r>
              <a:t>Stopwords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1924" y="250945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the, a, is, said...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029706" y="2323839"/>
            <a:ext cx="137160" cy="22860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220208" y="1992560"/>
            <a:ext cx="1219196" cy="852170"/>
          </a:xfrm>
          <a:prstGeom prst="roundRect">
            <a:avLst/>
          </a:prstGeom>
          <a:noFill/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04964" y="2033962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39C12"/>
                </a:solidFill>
                <a:latin typeface="Calibri"/>
              </a:defRPr>
            </a:pPr>
            <a:r>
              <a:t>7. Lemmatize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04964" y="250945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running → run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0492746" y="2323839"/>
            <a:ext cx="137160" cy="22860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683248" y="1992560"/>
            <a:ext cx="1219196" cy="852170"/>
          </a:xfrm>
          <a:prstGeom prst="roundRect">
            <a:avLst/>
          </a:prstGeom>
          <a:noFill/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668004" y="2033962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8. Cleaned</a:t>
            </a:r>
            <a:br/>
            <a:r>
              <a:t>Text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68004" y="250945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Ready for features!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794415"/>
              </p:ext>
            </p:extLst>
          </p:nvPr>
        </p:nvGraphicFramePr>
        <p:xfrm>
          <a:off x="1180947" y="3450083"/>
          <a:ext cx="9017153" cy="1305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2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52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23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Technique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Why This Matters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10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Stopwords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NLTK + custom: {'said','says','new','us','would'}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News-specific: 'said' appears everywhere, adds zero signal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35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Lemmatization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WordNetLemmatizer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Better than stemming: '</a:t>
                      </a:r>
                      <a:r>
                        <a:rPr dirty="0" err="1"/>
                        <a:t>running'→'run</a:t>
                      </a:r>
                      <a:r>
                        <a:rPr dirty="0"/>
                        <a:t>' not '</a:t>
                      </a:r>
                      <a:r>
                        <a:rPr dirty="0" err="1"/>
                        <a:t>runn</a:t>
                      </a:r>
                      <a:r>
                        <a:rPr dirty="0"/>
                        <a:t>'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4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Min Word Length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Keep words with len &gt; 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Filters noise: 'a', 'an', 'at', 'be', 'go'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1060454" y="5451023"/>
            <a:ext cx="6681470" cy="487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888888"/>
                </a:solidFill>
                <a:latin typeface="Calibri"/>
              </a:defRPr>
            </a:pPr>
            <a:r>
              <a:t>Before:  "Donald Trump SENDS OUT embarrassing New Year's Eve message — THIS is disturbing!!!"</a:t>
            </a:r>
          </a:p>
          <a:p>
            <a:pPr>
              <a:spcAft>
                <a:spcPts val="200"/>
              </a:spcAft>
              <a:defRPr sz="1200" b="1">
                <a:solidFill>
                  <a:srgbClr val="2ECC71"/>
                </a:solidFill>
                <a:latin typeface="Calibri"/>
              </a:defRPr>
            </a:pPr>
            <a:r>
              <a:t>After:    "donald trump send embarrassing new year eve message disturbing"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82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Feature Extraction — TF-IDF &amp; Word2Vec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68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Sparse bag-of-words vs Dense semantic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5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98DB"/>
                </a:solidFill>
                <a:latin typeface="Calibri"/>
              </a:defRPr>
            </a:pPr>
            <a:r>
              <a:t>TF-IDF (Bag-of-Words)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82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98DB"/>
                </a:solidFill>
                <a:latin typeface="Calibri"/>
              </a:defRPr>
            </a:pPr>
            <a:r>
              <a:t>TF-IDF(t,d) = TF(t,d) × log(N / DF(t))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22880"/>
            <a:ext cx="3976370" cy="190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Configuration:</a:t>
            </a:r>
          </a:p>
          <a:p>
            <a:pPr>
              <a:spcAft>
                <a:spcPts val="2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rPr dirty="0" err="1"/>
              <a:t>ngram_range</a:t>
            </a:r>
            <a:r>
              <a:rPr dirty="0"/>
              <a:t>=(1,3) → captures phrases</a:t>
            </a:r>
          </a:p>
          <a:p>
            <a:pPr>
              <a:spcAft>
                <a:spcPts val="2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rPr dirty="0" err="1"/>
              <a:t>max_features</a:t>
            </a:r>
            <a:r>
              <a:rPr dirty="0"/>
              <a:t>=8000 → top vocabulary</a:t>
            </a:r>
          </a:p>
          <a:p>
            <a:pPr>
              <a:spcAft>
                <a:spcPts val="2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rPr dirty="0" err="1"/>
              <a:t>min_df</a:t>
            </a:r>
            <a:r>
              <a:rPr dirty="0"/>
              <a:t>=3, </a:t>
            </a:r>
            <a:r>
              <a:rPr dirty="0" err="1"/>
              <a:t>max_df</a:t>
            </a:r>
            <a:r>
              <a:rPr dirty="0"/>
              <a:t>=0.85 → filter extremes</a:t>
            </a:r>
          </a:p>
          <a:p>
            <a:pPr>
              <a:spcAft>
                <a:spcPts val="2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rPr dirty="0" err="1"/>
              <a:t>sublinear_tf</a:t>
            </a:r>
            <a:r>
              <a:rPr dirty="0"/>
              <a:t>=True → 1 + log(</a:t>
            </a:r>
            <a:r>
              <a:rPr dirty="0" err="1"/>
              <a:t>tf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600" b="0">
                <a:solidFill>
                  <a:srgbClr val="BBBBBB"/>
                </a:solidFill>
                <a:latin typeface="Calibri"/>
              </a:defRPr>
            </a:pPr>
            <a:endParaRPr dirty="0"/>
          </a:p>
          <a:p>
            <a:pPr>
              <a:spcAft>
                <a:spcPts val="200"/>
              </a:spcAft>
              <a:defRPr sz="1400" b="0">
                <a:solidFill>
                  <a:srgbClr val="3498DB"/>
                </a:solidFill>
                <a:latin typeface="Calibri"/>
              </a:defRPr>
            </a:pPr>
            <a:r>
              <a:rPr dirty="0"/>
              <a:t>Result: 8,000+ × 8,000 sparse matrix</a:t>
            </a:r>
          </a:p>
          <a:p>
            <a:pPr>
              <a:spcAft>
                <a:spcPts val="2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rPr dirty="0"/>
              <a:t>~0.12% non-zero — highly sparse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25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Calibri"/>
              </a:defRPr>
            </a:pPr>
            <a:r>
              <a:t>Word2Vec (Embeddings)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82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CC71"/>
                </a:solidFill>
                <a:latin typeface="Calibri"/>
              </a:defRPr>
            </a:pPr>
            <a:r>
              <a:t>doc_vec = average(word_vec(w₁), ..., word_vec(wₙ))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22880"/>
            <a:ext cx="3752850" cy="190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Configuration:</a:t>
            </a:r>
          </a:p>
          <a:p>
            <a:pPr>
              <a:spcAft>
                <a:spcPts val="2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rPr dirty="0" err="1"/>
              <a:t>vector_size</a:t>
            </a:r>
            <a:r>
              <a:rPr dirty="0"/>
              <a:t>=200 → dense vectors</a:t>
            </a:r>
          </a:p>
          <a:p>
            <a:pPr>
              <a:spcAft>
                <a:spcPts val="2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rPr dirty="0"/>
              <a:t>window=5, sg=1 → Skip-gram</a:t>
            </a:r>
          </a:p>
          <a:p>
            <a:pPr>
              <a:spcAft>
                <a:spcPts val="2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rPr dirty="0"/>
              <a:t>epochs=20, </a:t>
            </a:r>
            <a:r>
              <a:rPr dirty="0" err="1"/>
              <a:t>min_count</a:t>
            </a:r>
            <a:r>
              <a:rPr dirty="0"/>
              <a:t>=2</a:t>
            </a:r>
          </a:p>
          <a:p>
            <a:pPr>
              <a:spcAft>
                <a:spcPts val="2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rPr dirty="0"/>
              <a:t>Trained on headline corpus</a:t>
            </a:r>
          </a:p>
          <a:p>
            <a:pPr>
              <a:spcAft>
                <a:spcPts val="200"/>
              </a:spcAft>
              <a:defRPr sz="600" b="0">
                <a:solidFill>
                  <a:srgbClr val="BBBBBB"/>
                </a:solidFill>
                <a:latin typeface="Calibri"/>
              </a:defRPr>
            </a:pPr>
            <a:endParaRPr dirty="0"/>
          </a:p>
          <a:p>
            <a:pPr>
              <a:spcAft>
                <a:spcPts val="200"/>
              </a:spcAft>
              <a:defRPr sz="1400" b="0">
                <a:solidFill>
                  <a:srgbClr val="2ECC71"/>
                </a:solidFill>
                <a:latin typeface="Calibri"/>
              </a:defRPr>
            </a:pPr>
            <a:r>
              <a:rPr dirty="0"/>
              <a:t>Result: 200 dense dimensions</a:t>
            </a:r>
          </a:p>
          <a:p>
            <a:pPr>
              <a:spcAft>
                <a:spcPts val="2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rPr dirty="0"/>
              <a:t>Similar words: </a:t>
            </a:r>
            <a:r>
              <a:rPr dirty="0" err="1"/>
              <a:t>trump↔obama</a:t>
            </a:r>
            <a:r>
              <a:rPr dirty="0"/>
              <a:t> (0.82)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530" y="5062870"/>
            <a:ext cx="9710420" cy="815340"/>
          </a:xfrm>
          <a:prstGeom prst="roundRect">
            <a:avLst/>
          </a:prstGeom>
          <a:noFill/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85850" y="5154310"/>
            <a:ext cx="979805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39C12"/>
                </a:solidFill>
                <a:latin typeface="Calibri"/>
              </a:defRPr>
            </a:pPr>
            <a:r>
              <a:rPr dirty="0"/>
              <a:t>TF-IDF (8,000 features) vs Word2Vec (200 features): Comparable accuracy — 40× fewer dimensions with Word2Vec!</a:t>
            </a:r>
          </a:p>
          <a:p>
            <a:pPr>
              <a:spcAft>
                <a:spcPts val="300"/>
              </a:spcAft>
              <a:defRPr sz="1500" b="0">
                <a:solidFill>
                  <a:srgbClr val="BBBBBB"/>
                </a:solidFill>
                <a:latin typeface="Calibri"/>
              </a:defRPr>
            </a:pPr>
            <a:r>
              <a:rPr dirty="0"/>
              <a:t>TF-IDF + Logistic Regression: 93.3%  |  Word2Vec + Logistic Regression: ~91%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28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Model Training — Baselines &amp; Hyperparameter 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4 models: Logistic Regression, Random Forest, XGBoost, Gradient Boosting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4980" y="1448110"/>
            <a:ext cx="29095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rPr dirty="0"/>
              <a:t>BASELINES (default params)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968940"/>
              </p:ext>
            </p:extLst>
          </p:nvPr>
        </p:nvGraphicFramePr>
        <p:xfrm>
          <a:off x="1675130" y="1890380"/>
          <a:ext cx="2846070" cy="182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1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Accuracy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93.05%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91.20%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XGBoost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87.70%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79.71%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11900" y="1479705"/>
            <a:ext cx="330835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rPr dirty="0"/>
              <a:t>TUNED (</a:t>
            </a:r>
            <a:r>
              <a:rPr dirty="0" err="1"/>
              <a:t>RandomizedSearchCV</a:t>
            </a:r>
            <a:r>
              <a:rPr dirty="0"/>
              <a:t>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606084"/>
              </p:ext>
            </p:extLst>
          </p:nvPr>
        </p:nvGraphicFramePr>
        <p:xfrm>
          <a:off x="6507480" y="1953570"/>
          <a:ext cx="2719070" cy="1805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Accuracy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93.27%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90.73%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89.20%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59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XGBoost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83.84%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471930" y="3976990"/>
            <a:ext cx="23444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Tuning Strategy: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7080" y="4366570"/>
            <a:ext cx="367665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3498DB"/>
                </a:solidFill>
                <a:latin typeface="Calibri"/>
              </a:defRPr>
            </a:pPr>
            <a:r>
              <a:rPr dirty="0" err="1"/>
              <a:t>RandomizedSearchCV</a:t>
            </a:r>
            <a:endParaRPr dirty="0"/>
          </a:p>
          <a:p>
            <a:pPr>
              <a:spcAft>
                <a:spcPts val="2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n_iter</a:t>
            </a:r>
            <a:r>
              <a:rPr dirty="0"/>
              <a:t>=5, cv=</a:t>
            </a:r>
            <a:r>
              <a:rPr dirty="0" err="1"/>
              <a:t>StratifiedKFold</a:t>
            </a:r>
            <a:r>
              <a:rPr dirty="0"/>
              <a:t>(2)</a:t>
            </a:r>
          </a:p>
          <a:p>
            <a:pPr>
              <a:spcAft>
                <a:spcPts val="2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rPr dirty="0"/>
              <a:t>• scoring='f1_macro'</a:t>
            </a:r>
          </a:p>
          <a:p>
            <a:pPr>
              <a:spcAft>
                <a:spcPts val="2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rPr dirty="0"/>
              <a:t>• LR: C, penalty, solver</a:t>
            </a:r>
          </a:p>
          <a:p>
            <a:pPr>
              <a:spcAft>
                <a:spcPts val="2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rPr dirty="0"/>
              <a:t>• RF: </a:t>
            </a:r>
            <a:r>
              <a:rPr dirty="0" err="1"/>
              <a:t>n_estimators</a:t>
            </a:r>
            <a:r>
              <a:rPr dirty="0"/>
              <a:t>, </a:t>
            </a:r>
            <a:r>
              <a:rPr dirty="0" err="1"/>
              <a:t>max_depth</a:t>
            </a:r>
            <a:r>
              <a:rPr dirty="0"/>
              <a:t>, </a:t>
            </a:r>
            <a:r>
              <a:rPr dirty="0" err="1"/>
              <a:t>max_features</a:t>
            </a:r>
            <a:endParaRPr dirty="0"/>
          </a:p>
          <a:p>
            <a:pPr>
              <a:spcAft>
                <a:spcPts val="2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rPr dirty="0"/>
              <a:t>• XGB: </a:t>
            </a:r>
            <a:r>
              <a:rPr dirty="0" err="1"/>
              <a:t>max_depth</a:t>
            </a:r>
            <a:r>
              <a:rPr dirty="0"/>
              <a:t>, </a:t>
            </a:r>
            <a:r>
              <a:rPr dirty="0" err="1"/>
              <a:t>learning_rate</a:t>
            </a:r>
            <a:r>
              <a:rPr dirty="0"/>
              <a:t>, subsample</a:t>
            </a:r>
          </a:p>
          <a:p>
            <a:pPr>
              <a:spcAft>
                <a:spcPts val="2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rPr dirty="0"/>
              <a:t>• GB: </a:t>
            </a:r>
            <a:r>
              <a:rPr dirty="0" err="1"/>
              <a:t>n_estimators</a:t>
            </a:r>
            <a:r>
              <a:rPr dirty="0"/>
              <a:t>, </a:t>
            </a:r>
            <a:r>
              <a:rPr dirty="0" err="1"/>
              <a:t>learning_rate</a:t>
            </a:r>
            <a:r>
              <a:rPr dirty="0"/>
              <a:t>, </a:t>
            </a:r>
            <a:r>
              <a:rPr dirty="0" err="1"/>
              <a:t>max_depth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5829147" y="4364340"/>
            <a:ext cx="3676650" cy="1544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39C12"/>
                </a:solidFill>
                <a:latin typeface="Calibri"/>
              </a:defRPr>
            </a:pPr>
            <a:r>
              <a:rPr dirty="0"/>
              <a:t>Key Observations:</a:t>
            </a:r>
          </a:p>
          <a:p>
            <a:pPr>
              <a:spcAft>
                <a:spcPts val="2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rPr dirty="0"/>
              <a:t>• Logistic Regression wins — simple &amp; fast!</a:t>
            </a:r>
          </a:p>
          <a:p>
            <a:pPr>
              <a:spcAft>
                <a:spcPts val="2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rPr dirty="0"/>
              <a:t>• GB: +10% from tuning (79.7% → 89.2%) </a:t>
            </a:r>
          </a:p>
          <a:p>
            <a:pPr>
              <a:spcAft>
                <a:spcPts val="2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XGBoost</a:t>
            </a:r>
            <a:r>
              <a:rPr dirty="0"/>
              <a:t> underperformed on this dataset</a:t>
            </a:r>
          </a:p>
          <a:p>
            <a:pPr>
              <a:spcAft>
                <a:spcPts val="2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rPr dirty="0"/>
              <a:t>• LR baseline was already 93% — hard to beat</a:t>
            </a:r>
          </a:p>
          <a:p>
            <a:pPr>
              <a:spcAft>
                <a:spcPts val="2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rPr dirty="0"/>
              <a:t>• All models: ROC-AUC &gt; 0.93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30580" y="867833"/>
            <a:ext cx="68148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Final Results —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3610" y="1559159"/>
            <a:ext cx="4160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Logistic Regression wins at 93.27%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499109"/>
              </p:ext>
            </p:extLst>
          </p:nvPr>
        </p:nvGraphicFramePr>
        <p:xfrm>
          <a:off x="760730" y="2016359"/>
          <a:ext cx="5608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2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F1-Macro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1</a:t>
                      </a:r>
                      <a:endParaRPr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TF-IDF + Logistic Regression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8,000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93.27%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0.9326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2</a:t>
                      </a:r>
                      <a:endParaRPr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TF-IDF + Random Forest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8,000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90.73%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0.9071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3</a:t>
                      </a:r>
                      <a:endParaRPr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TF-IDF + Gradient Boosting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8,000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89.20%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0.8919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TF-IDF + </a:t>
                      </a:r>
                      <a:r>
                        <a:rPr dirty="0" err="1"/>
                        <a:t>XGBoost</a:t>
                      </a:r>
                      <a:endParaRPr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8,000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83.84%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0.8371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456690" y="4272280"/>
            <a:ext cx="386715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Confusion Matrix — Best Model (LR):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108337"/>
              </p:ext>
            </p:extLst>
          </p:nvPr>
        </p:nvGraphicFramePr>
        <p:xfrm>
          <a:off x="1243330" y="4754880"/>
          <a:ext cx="429387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3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Predicted Fake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Predicted Real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Actual Fake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~91%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~9% (False Positive)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Actual Real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~5% (False Negative)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~95%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965950" y="2818140"/>
            <a:ext cx="4648200" cy="1933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2ECC71"/>
                </a:solidFill>
                <a:latin typeface="Calibri"/>
              </a:defRPr>
            </a:pPr>
            <a:r>
              <a:rPr dirty="0"/>
              <a:t>ROC-AUC: 0.9825 — Near-Perfect Separation</a:t>
            </a:r>
          </a:p>
          <a:p>
            <a:pPr>
              <a:spcAft>
                <a:spcPts val="2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rPr dirty="0"/>
              <a:t>• Logistic Regression: AUC = 0.9825</a:t>
            </a:r>
          </a:p>
          <a:p>
            <a:pPr>
              <a:spcAft>
                <a:spcPts val="2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rPr dirty="0"/>
              <a:t>• Random Forest: AUC = 0.9682</a:t>
            </a:r>
          </a:p>
          <a:p>
            <a:pPr>
              <a:spcAft>
                <a:spcPts val="2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rPr dirty="0"/>
              <a:t>• Gradient Boosting: AUC = 0.9626</a:t>
            </a:r>
          </a:p>
          <a:p>
            <a:pPr>
              <a:spcAft>
                <a:spcPts val="2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XGBoost</a:t>
            </a:r>
            <a:r>
              <a:rPr dirty="0"/>
              <a:t>: AUC = 0.9292</a:t>
            </a:r>
          </a:p>
          <a:p>
            <a:pPr>
              <a:spcAft>
                <a:spcPts val="200"/>
              </a:spcAft>
              <a:defRPr sz="600" b="0">
                <a:solidFill>
                  <a:srgbClr val="BBBBBB"/>
                </a:solidFill>
                <a:latin typeface="Calibri"/>
              </a:defRPr>
            </a:pPr>
            <a:endParaRPr dirty="0"/>
          </a:p>
          <a:p>
            <a:pPr>
              <a:spcAft>
                <a:spcPts val="2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rPr dirty="0"/>
              <a:t>Low false negatives (5%) — model rarely</a:t>
            </a:r>
          </a:p>
          <a:p>
            <a:pPr>
              <a:spcAft>
                <a:spcPts val="20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rPr dirty="0"/>
              <a:t>calls real news 'fake', the safer error direction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65950" y="4829820"/>
            <a:ext cx="3486150" cy="698500"/>
          </a:xfrm>
          <a:prstGeom prst="roundRect">
            <a:avLst/>
          </a:prstGeom>
          <a:noFill/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91680" y="4917460"/>
            <a:ext cx="3576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rPr dirty="0"/>
              <a:t>Gradient Boosting: 79.7% → 89.2% (+10%)</a:t>
            </a:r>
            <a:br>
              <a:rPr dirty="0"/>
            </a:br>
            <a:r>
              <a:rPr dirty="0"/>
              <a:t>Hyperparameter tuning is transformative!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30680" y="793750"/>
            <a:ext cx="72720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Accuracy Estimation — Deliverable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30680" y="1479550"/>
            <a:ext cx="44462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Expected performance on unseen test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30680" y="1936750"/>
            <a:ext cx="6624320" cy="1590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F39C12"/>
                </a:solidFill>
                <a:latin typeface="Calibri"/>
              </a:defRPr>
            </a:pPr>
            <a:r>
              <a:rPr dirty="0"/>
              <a:t>Expected Performance on Unseen Test Data:</a:t>
            </a:r>
          </a:p>
          <a:p>
            <a:pPr>
              <a:spcAft>
                <a:spcPts val="400"/>
              </a:spcAft>
              <a:defRPr sz="800" b="0">
                <a:solidFill>
                  <a:srgbClr val="BBBBBB"/>
                </a:solidFill>
                <a:latin typeface="Calibri"/>
              </a:defRPr>
            </a:pPr>
            <a:endParaRPr dirty="0"/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Accuracy: ~93% — correctly classifies 93 out of 100 headlines</a:t>
            </a:r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F1 Score (Macro): ~0.93 — balanced across Fake and Real classes</a:t>
            </a:r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ROC-AUC: ~0.98 — near-perfect class separation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9580" y="3906520"/>
            <a:ext cx="327787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3498DB"/>
                </a:solidFill>
                <a:latin typeface="Calibri"/>
              </a:defRPr>
            </a:pPr>
            <a:r>
              <a:rPr dirty="0"/>
              <a:t>Why Logistic Regression?</a:t>
            </a:r>
          </a:p>
          <a:p>
            <a:pPr>
              <a:spcAft>
                <a:spcPts val="200"/>
              </a:spcAft>
              <a:defRPr sz="1500" b="0">
                <a:solidFill>
                  <a:srgbClr val="BBBBBB"/>
                </a:solidFill>
                <a:latin typeface="Calibri"/>
              </a:defRPr>
            </a:pPr>
            <a:r>
              <a:rPr dirty="0"/>
              <a:t>• Highest accuracy (93.27%)</a:t>
            </a:r>
          </a:p>
          <a:p>
            <a:pPr>
              <a:spcAft>
                <a:spcPts val="200"/>
              </a:spcAft>
              <a:defRPr sz="1500" b="0">
                <a:solidFill>
                  <a:srgbClr val="BBBBBB"/>
                </a:solidFill>
                <a:latin typeface="Calibri"/>
              </a:defRPr>
            </a:pPr>
            <a:r>
              <a:rPr dirty="0"/>
              <a:t>• Best F1 score (0.9326)</a:t>
            </a:r>
          </a:p>
          <a:p>
            <a:pPr>
              <a:spcAft>
                <a:spcPts val="200"/>
              </a:spcAft>
              <a:defRPr sz="1500" b="0">
                <a:solidFill>
                  <a:srgbClr val="BBBBBB"/>
                </a:solidFill>
                <a:latin typeface="Calibri"/>
              </a:defRPr>
            </a:pPr>
            <a:r>
              <a:rPr dirty="0"/>
              <a:t>• Fastest to train and predict</a:t>
            </a:r>
          </a:p>
          <a:p>
            <a:pPr>
              <a:spcAft>
                <a:spcPts val="200"/>
              </a:spcAft>
              <a:defRPr sz="1500" b="0">
                <a:solidFill>
                  <a:srgbClr val="BBBBBB"/>
                </a:solidFill>
                <a:latin typeface="Calibri"/>
              </a:defRPr>
            </a:pPr>
            <a:r>
              <a:rPr dirty="0"/>
              <a:t>• Most interpretable — coefficients</a:t>
            </a:r>
          </a:p>
          <a:p>
            <a:pPr>
              <a:spcAft>
                <a:spcPts val="200"/>
              </a:spcAft>
              <a:defRPr sz="1500" b="0">
                <a:solidFill>
                  <a:srgbClr val="BBBBBB"/>
                </a:solidFill>
                <a:latin typeface="Calibri"/>
              </a:defRPr>
            </a:pPr>
            <a:r>
              <a:rPr dirty="0"/>
              <a:t>  directly show word importance</a:t>
            </a:r>
          </a:p>
          <a:p>
            <a:pPr>
              <a:spcAft>
                <a:spcPts val="200"/>
              </a:spcAft>
              <a:defRPr sz="1500" b="0">
                <a:solidFill>
                  <a:srgbClr val="BBBBBB"/>
                </a:solidFill>
                <a:latin typeface="Calibri"/>
              </a:defRPr>
            </a:pPr>
            <a:r>
              <a:rPr dirty="0"/>
              <a:t>• No complex hyperparameters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7200" y="3906520"/>
            <a:ext cx="33655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2ECC71"/>
                </a:solidFill>
                <a:latin typeface="Calibri"/>
              </a:defRPr>
            </a:pPr>
            <a:r>
              <a:rPr dirty="0"/>
              <a:t>Error Analysis:</a:t>
            </a:r>
          </a:p>
          <a:p>
            <a:pPr>
              <a:spcAft>
                <a:spcPts val="200"/>
              </a:spcAft>
              <a:defRPr sz="1500" b="0">
                <a:solidFill>
                  <a:srgbClr val="BBBBBB"/>
                </a:solidFill>
                <a:latin typeface="Calibri"/>
              </a:defRPr>
            </a:pPr>
            <a:r>
              <a:rPr dirty="0"/>
              <a:t>• False Negatives (~5%): Real news</a:t>
            </a:r>
          </a:p>
          <a:p>
            <a:pPr>
              <a:spcAft>
                <a:spcPts val="200"/>
              </a:spcAft>
              <a:defRPr sz="1500" b="0">
                <a:solidFill>
                  <a:srgbClr val="BBBBBB"/>
                </a:solidFill>
                <a:latin typeface="Calibri"/>
              </a:defRPr>
            </a:pPr>
            <a:r>
              <a:rPr dirty="0"/>
              <a:t>  classified as fake — safer error</a:t>
            </a:r>
          </a:p>
          <a:p>
            <a:pPr>
              <a:spcAft>
                <a:spcPts val="200"/>
              </a:spcAft>
              <a:defRPr sz="1500" b="0">
                <a:solidFill>
                  <a:srgbClr val="BBBBBB"/>
                </a:solidFill>
                <a:latin typeface="Calibri"/>
              </a:defRPr>
            </a:pPr>
            <a:r>
              <a:rPr dirty="0"/>
              <a:t>• False Positives (~9%): Fake news</a:t>
            </a:r>
          </a:p>
          <a:p>
            <a:pPr>
              <a:spcAft>
                <a:spcPts val="200"/>
              </a:spcAft>
              <a:defRPr sz="1500" b="0">
                <a:solidFill>
                  <a:srgbClr val="BBBBBB"/>
                </a:solidFill>
                <a:latin typeface="Calibri"/>
              </a:defRPr>
            </a:pPr>
            <a:r>
              <a:rPr dirty="0"/>
              <a:t>  classified as real — more dangerous</a:t>
            </a:r>
          </a:p>
          <a:p>
            <a:pPr>
              <a:spcAft>
                <a:spcPts val="200"/>
              </a:spcAft>
              <a:defRPr sz="1500" b="0">
                <a:solidFill>
                  <a:srgbClr val="BBBBBB"/>
                </a:solidFill>
                <a:latin typeface="Calibri"/>
              </a:defRPr>
            </a:pPr>
            <a:r>
              <a:rPr dirty="0"/>
              <a:t>• Classes balanced (51.5/48.5)</a:t>
            </a:r>
          </a:p>
          <a:p>
            <a:pPr>
              <a:spcAft>
                <a:spcPts val="200"/>
              </a:spcAft>
              <a:defRPr sz="1500" b="0">
                <a:solidFill>
                  <a:srgbClr val="BBBBBB"/>
                </a:solidFill>
                <a:latin typeface="Calibri"/>
              </a:defRPr>
            </a:pPr>
            <a:r>
              <a:rPr dirty="0"/>
              <a:t>  → Accuracy is a reliable metric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10080" y="228600"/>
            <a:ext cx="69799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Key Technical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10080" y="914400"/>
            <a:ext cx="6979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What we learned from building this classifier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1809750" y="1463040"/>
            <a:ext cx="373457" cy="41148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9750" y="1508760"/>
            <a:ext cx="37345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8720" y="1444752"/>
            <a:ext cx="667644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CC71"/>
                </a:solidFill>
                <a:latin typeface="Calibri"/>
              </a:defRPr>
            </a:pPr>
            <a:r>
              <a:t>Logistic Regression wins — simplicity beats complexity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8720" y="1755648"/>
            <a:ext cx="667644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93.27% with a linear model. Well-engineered features &gt; complex algorithms.</a:t>
            </a:r>
          </a:p>
        </p:txBody>
      </p:sp>
      <p:sp>
        <p:nvSpPr>
          <p:cNvPr id="10" name="Oval 9"/>
          <p:cNvSpPr/>
          <p:nvPr/>
        </p:nvSpPr>
        <p:spPr>
          <a:xfrm>
            <a:off x="1809750" y="2212848"/>
            <a:ext cx="373457" cy="4114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09750" y="2258568"/>
            <a:ext cx="37345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8720" y="2194560"/>
            <a:ext cx="667644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98DB"/>
                </a:solidFill>
                <a:latin typeface="Calibri"/>
              </a:defRPr>
            </a:pPr>
            <a:r>
              <a:t>Word2Vec matches TF-IDF with 40× fewer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8720" y="2505456"/>
            <a:ext cx="667644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200 dense dimensions vs 8,000 sparse — ideal for production at scale.</a:t>
            </a:r>
          </a:p>
        </p:txBody>
      </p:sp>
      <p:sp>
        <p:nvSpPr>
          <p:cNvPr id="14" name="Oval 13"/>
          <p:cNvSpPr/>
          <p:nvPr/>
        </p:nvSpPr>
        <p:spPr>
          <a:xfrm>
            <a:off x="1809750" y="2962656"/>
            <a:ext cx="373457" cy="41148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09750" y="3008376"/>
            <a:ext cx="37345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8720" y="2944368"/>
            <a:ext cx="667644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9B59B6"/>
                </a:solidFill>
                <a:latin typeface="Calibri"/>
              </a:defRPr>
            </a:pPr>
            <a:r>
              <a:t>N-grams capture critical phrases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8720" y="3255264"/>
            <a:ext cx="667644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'white house', 'north korea' — unigrams alone would miss these signals.</a:t>
            </a:r>
          </a:p>
        </p:txBody>
      </p:sp>
      <p:sp>
        <p:nvSpPr>
          <p:cNvPr id="18" name="Oval 17"/>
          <p:cNvSpPr/>
          <p:nvPr/>
        </p:nvSpPr>
        <p:spPr>
          <a:xfrm>
            <a:off x="1809750" y="3712464"/>
            <a:ext cx="373457" cy="41148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09750" y="3758184"/>
            <a:ext cx="37345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58720" y="3694176"/>
            <a:ext cx="667644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74C3C"/>
                </a:solidFill>
                <a:latin typeface="Calibri"/>
              </a:defRPr>
            </a:pPr>
            <a:r>
              <a:t>Classes are balanced — no oversampling needed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58720" y="4005072"/>
            <a:ext cx="667644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51.5%/48.5% split. Always verify before applying SMOTE or similar.</a:t>
            </a:r>
          </a:p>
        </p:txBody>
      </p:sp>
      <p:sp>
        <p:nvSpPr>
          <p:cNvPr id="22" name="Oval 21"/>
          <p:cNvSpPr/>
          <p:nvPr/>
        </p:nvSpPr>
        <p:spPr>
          <a:xfrm>
            <a:off x="1809750" y="4462272"/>
            <a:ext cx="373457" cy="41148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09750" y="4507992"/>
            <a:ext cx="37345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8720" y="4443984"/>
            <a:ext cx="667644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39C12"/>
                </a:solidFill>
                <a:latin typeface="Calibri"/>
              </a:defRPr>
            </a:pPr>
            <a:r>
              <a:t>Hyperparameter tuning is transformative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58720" y="4754880"/>
            <a:ext cx="667644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Gradient Boosting: 79.7% → 89.2% F1 (+10%). Never skip tuning!</a:t>
            </a:r>
          </a:p>
        </p:txBody>
      </p:sp>
      <p:sp>
        <p:nvSpPr>
          <p:cNvPr id="26" name="Oval 25"/>
          <p:cNvSpPr/>
          <p:nvPr/>
        </p:nvSpPr>
        <p:spPr>
          <a:xfrm>
            <a:off x="1809750" y="5212079"/>
            <a:ext cx="373457" cy="41148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09750" y="5257799"/>
            <a:ext cx="37345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58720" y="5193792"/>
            <a:ext cx="667644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74C3C"/>
                </a:solidFill>
                <a:latin typeface="Calibri"/>
              </a:defRPr>
            </a:pPr>
            <a:r>
              <a:t>Preprocessing matters as much as model choice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58720" y="5504688"/>
            <a:ext cx="667644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Custom stopwords (said, says, new) can shift accuracy by 1-2%.</a:t>
            </a:r>
          </a:p>
        </p:txBody>
      </p:sp>
      <p:sp>
        <p:nvSpPr>
          <p:cNvPr id="30" name="Oval 29"/>
          <p:cNvSpPr/>
          <p:nvPr/>
        </p:nvSpPr>
        <p:spPr>
          <a:xfrm>
            <a:off x="1809750" y="5961888"/>
            <a:ext cx="373457" cy="4114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809750" y="6007607"/>
            <a:ext cx="37345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58720" y="5943600"/>
            <a:ext cx="667644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98DB"/>
                </a:solidFill>
                <a:latin typeface="Calibri"/>
              </a:defRPr>
            </a:pPr>
            <a:r>
              <a:t>Where would Transformers take us?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58720" y="6254496"/>
            <a:ext cx="667644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BERT/RoBERTa would likely hit 95-97% — at 100× compute cost.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80822"/>
            <a:ext cx="70561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Production Path — If This Were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66622"/>
            <a:ext cx="47002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rPr dirty="0"/>
              <a:t>Architecture and next steps for a deployable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8500" y="1877283"/>
            <a:ext cx="993140" cy="731520"/>
          </a:xfrm>
          <a:prstGeom prst="roundRect">
            <a:avLst/>
          </a:prstGeom>
          <a:noFill/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987011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74C3C"/>
                </a:solidFill>
                <a:latin typeface="Calibri"/>
              </a:defRPr>
            </a:pPr>
            <a:r>
              <a:t>News</a:t>
            </a:r>
            <a:br/>
            <a:r>
              <a:t>Headline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789430" y="2115027"/>
            <a:ext cx="463550" cy="27432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252980" y="1877283"/>
            <a:ext cx="1163320" cy="731520"/>
          </a:xfrm>
          <a:prstGeom prst="roundRect">
            <a:avLst/>
          </a:prstGeom>
          <a:noFill/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48839" y="1987011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9C12"/>
                </a:solidFill>
                <a:latin typeface="Calibri"/>
              </a:defRPr>
            </a:pPr>
            <a:r>
              <a:t>Preprocessing</a:t>
            </a:r>
            <a:br/>
            <a:r>
              <a:t>Pipeline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435350" y="2115027"/>
            <a:ext cx="463550" cy="27432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990339" y="1877283"/>
            <a:ext cx="993140" cy="731520"/>
          </a:xfrm>
          <a:prstGeom prst="roundRect">
            <a:avLst/>
          </a:prstGeom>
          <a:noFill/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94759" y="1987011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  <a:latin typeface="Calibri"/>
              </a:defRPr>
            </a:pPr>
            <a:r>
              <a:t>TF-IDF</a:t>
            </a:r>
            <a:br/>
            <a:r>
              <a:t>Transform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081269" y="2115027"/>
            <a:ext cx="463550" cy="27432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636260" y="1877283"/>
            <a:ext cx="993140" cy="731520"/>
          </a:xfrm>
          <a:prstGeom prst="roundRect">
            <a:avLst/>
          </a:prstGeom>
          <a:noFill/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40680" y="1987011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98DB"/>
                </a:solidFill>
                <a:latin typeface="Calibri"/>
              </a:defRPr>
            </a:pPr>
            <a:r>
              <a:t>Logistic</a:t>
            </a:r>
            <a:br/>
            <a:r>
              <a:t>Regression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727190" y="2115027"/>
            <a:ext cx="463550" cy="27432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236460" y="1877283"/>
            <a:ext cx="1071880" cy="731520"/>
          </a:xfrm>
          <a:prstGeom prst="roundRect">
            <a:avLst/>
          </a:prstGeom>
          <a:noFill/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86600" y="1987011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B59B6"/>
                </a:solidFill>
                <a:latin typeface="Calibri"/>
              </a:defRPr>
            </a:pPr>
            <a:r>
              <a:t>Score &gt; 0.5?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97290" y="1873473"/>
            <a:ext cx="993140" cy="731520"/>
          </a:xfrm>
          <a:prstGeom prst="roundRect">
            <a:avLst/>
          </a:prstGeom>
          <a:noFill/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32520" y="1987011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74C3C"/>
                </a:solidFill>
                <a:latin typeface="Calibri"/>
              </a:defRPr>
            </a:pPr>
            <a:r>
              <a:t>FAKE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74020" y="1877283"/>
            <a:ext cx="993140" cy="731520"/>
          </a:xfrm>
          <a:prstGeom prst="roundRect">
            <a:avLst/>
          </a:prstGeom>
          <a:noFill/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378440" y="1987011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  <a:latin typeface="Calibri"/>
              </a:defRPr>
            </a:pPr>
            <a:r>
              <a:t>REAL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1877283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Calibri"/>
              </a:defRPr>
            </a:pPr>
            <a:r>
              <a:t>→ FAKE</a:t>
            </a:r>
            <a:br/>
            <a:r>
              <a:t>→ REAL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97244" y="2974489"/>
            <a:ext cx="2136140" cy="640080"/>
          </a:xfrm>
          <a:prstGeom prst="roundRect">
            <a:avLst/>
          </a:prstGeom>
          <a:noFill/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31484" y="3047641"/>
            <a:ext cx="26517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39C12"/>
                </a:solidFill>
                <a:latin typeface="Calibri"/>
              </a:defRPr>
            </a:pPr>
            <a:r>
              <a:rPr dirty="0"/>
              <a:t>Confidence &lt; 0.7?</a:t>
            </a:r>
            <a:br>
              <a:rPr dirty="0"/>
            </a:br>
            <a:r>
              <a:rPr dirty="0"/>
              <a:t>→ Human Review Queue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1010" y="3930799"/>
            <a:ext cx="3350259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Next Steps:</a:t>
            </a:r>
          </a:p>
          <a:p>
            <a:pPr>
              <a:spcAft>
                <a:spcPts val="100"/>
              </a:spcAft>
              <a:defRPr sz="1500" b="1">
                <a:solidFill>
                  <a:srgbClr val="3498DB"/>
                </a:solidFill>
                <a:latin typeface="Calibri"/>
              </a:defRPr>
            </a:pPr>
            <a:r>
              <a:rPr dirty="0"/>
              <a:t>1. Fine-tune </a:t>
            </a:r>
            <a:r>
              <a:rPr dirty="0" err="1"/>
              <a:t>distilBERT</a:t>
            </a:r>
            <a:endParaRPr dirty="0"/>
          </a:p>
          <a:p>
            <a:pPr>
              <a:spcAft>
                <a:spcPts val="10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rPr dirty="0"/>
              <a:t>   3× smaller than BERT, ~95% expected</a:t>
            </a:r>
          </a:p>
          <a:p>
            <a:pPr>
              <a:spcAft>
                <a:spcPts val="100"/>
              </a:spcAft>
              <a:defRPr sz="1500" b="1">
                <a:solidFill>
                  <a:srgbClr val="3498DB"/>
                </a:solidFill>
                <a:latin typeface="Calibri"/>
              </a:defRPr>
            </a:pPr>
            <a:r>
              <a:rPr dirty="0"/>
              <a:t>2. Ensemble Voting Classifier</a:t>
            </a:r>
          </a:p>
          <a:p>
            <a:pPr>
              <a:spcAft>
                <a:spcPts val="10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rPr dirty="0"/>
              <a:t>   LR + RF + GB → reduce variance</a:t>
            </a:r>
          </a:p>
          <a:p>
            <a:pPr>
              <a:spcAft>
                <a:spcPts val="100"/>
              </a:spcAft>
              <a:defRPr sz="1500" b="1">
                <a:solidFill>
                  <a:srgbClr val="3498DB"/>
                </a:solidFill>
                <a:latin typeface="Calibri"/>
              </a:defRPr>
            </a:pPr>
            <a:r>
              <a:rPr dirty="0"/>
              <a:t>3. Add metadata features</a:t>
            </a:r>
          </a:p>
          <a:p>
            <a:pPr>
              <a:spcAft>
                <a:spcPts val="10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rPr dirty="0"/>
              <a:t>   Source domain, publish time, author</a:t>
            </a:r>
          </a:p>
          <a:p>
            <a:pPr>
              <a:spcAft>
                <a:spcPts val="100"/>
              </a:spcAft>
              <a:defRPr sz="1500" b="1">
                <a:solidFill>
                  <a:srgbClr val="3498DB"/>
                </a:solidFill>
                <a:latin typeface="Calibri"/>
              </a:defRPr>
            </a:pPr>
            <a:r>
              <a:rPr dirty="0"/>
              <a:t>4. Deploy as </a:t>
            </a:r>
            <a:r>
              <a:rPr dirty="0" err="1"/>
              <a:t>FastAPI</a:t>
            </a:r>
            <a:r>
              <a:rPr dirty="0"/>
              <a:t> microservice</a:t>
            </a:r>
          </a:p>
          <a:p>
            <a:pPr>
              <a:spcAft>
                <a:spcPts val="10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rPr dirty="0"/>
              <a:t>   &lt; 1ms inference per headline on CPU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32830" y="3934609"/>
            <a:ext cx="3048000" cy="2210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Performance Summary:</a:t>
            </a:r>
          </a:p>
          <a:p>
            <a:pPr>
              <a:spcAft>
                <a:spcPts val="200"/>
              </a:spcAft>
              <a:defRPr sz="1600" b="1">
                <a:solidFill>
                  <a:srgbClr val="2ECC71"/>
                </a:solidFill>
                <a:latin typeface="Calibri"/>
              </a:defRPr>
            </a:pPr>
            <a:r>
              <a:rPr dirty="0"/>
              <a:t>Model:  Logistic Regression</a:t>
            </a:r>
          </a:p>
          <a:p>
            <a:pPr>
              <a:spcAft>
                <a:spcPts val="200"/>
              </a:spcAft>
              <a:defRPr sz="1600" b="0">
                <a:solidFill>
                  <a:srgbClr val="BBBBBB"/>
                </a:solidFill>
                <a:latin typeface="Calibri"/>
              </a:defRPr>
            </a:pPr>
            <a:r>
              <a:rPr dirty="0"/>
              <a:t>Features:  TF-IDF (8k n-grams 1-3)</a:t>
            </a:r>
          </a:p>
          <a:p>
            <a:pPr>
              <a:spcAft>
                <a:spcPts val="200"/>
              </a:spcAft>
              <a:defRPr sz="1600" b="1">
                <a:solidFill>
                  <a:srgbClr val="2ECC71"/>
                </a:solidFill>
                <a:latin typeface="Calibri"/>
              </a:defRPr>
            </a:pPr>
            <a:r>
              <a:rPr dirty="0"/>
              <a:t>Accuracy:  93.27%</a:t>
            </a:r>
          </a:p>
          <a:p>
            <a:pPr>
              <a:spcAft>
                <a:spcPts val="200"/>
              </a:spcAft>
              <a:defRPr sz="1600" b="0">
                <a:solidFill>
                  <a:srgbClr val="BBBBBB"/>
                </a:solidFill>
                <a:latin typeface="Calibri"/>
              </a:defRPr>
            </a:pPr>
            <a:r>
              <a:rPr dirty="0"/>
              <a:t>F1-Macro:  0.9326</a:t>
            </a:r>
          </a:p>
          <a:p>
            <a:pPr>
              <a:spcAft>
                <a:spcPts val="200"/>
              </a:spcAft>
              <a:defRPr sz="1600" b="0">
                <a:solidFill>
                  <a:srgbClr val="BBBBBB"/>
                </a:solidFill>
                <a:latin typeface="Calibri"/>
              </a:defRPr>
            </a:pPr>
            <a:r>
              <a:rPr dirty="0"/>
              <a:t>ROC-AUC:  0.9825</a:t>
            </a:r>
          </a:p>
          <a:p>
            <a:pPr>
              <a:spcAft>
                <a:spcPts val="2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rPr dirty="0"/>
              <a:t>Predictions saved to:</a:t>
            </a:r>
          </a:p>
          <a:p>
            <a:pPr>
              <a:spcAft>
                <a:spcPts val="20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rPr dirty="0"/>
              <a:t>dataset/predictions.csv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76425" y="1290082"/>
            <a:ext cx="34417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875" y="2292350"/>
            <a:ext cx="7829550" cy="284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2ECC71"/>
                </a:solidFill>
                <a:latin typeface="Calibri"/>
              </a:defRPr>
            </a:pPr>
            <a:r>
              <a:rPr dirty="0"/>
              <a:t>NLP Classification with classical ML delivers 93%+ accuracy.</a:t>
            </a:r>
          </a:p>
          <a:p>
            <a:pPr>
              <a:spcAft>
                <a:spcPts val="40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endParaRPr dirty="0"/>
          </a:p>
          <a:p>
            <a:pPr>
              <a:spcAft>
                <a:spcPts val="400"/>
              </a:spcAft>
              <a:defRPr sz="1800" b="0">
                <a:solidFill>
                  <a:srgbClr val="BBBBBB"/>
                </a:solidFill>
                <a:latin typeface="Calibri"/>
              </a:defRPr>
            </a:pPr>
            <a:r>
              <a:rPr dirty="0"/>
              <a:t>For short-text tasks like headline classification,</a:t>
            </a:r>
          </a:p>
          <a:p>
            <a:pPr>
              <a:spcAft>
                <a:spcPts val="400"/>
              </a:spcAft>
              <a:defRPr sz="1800" b="0">
                <a:solidFill>
                  <a:srgbClr val="BBBBBB"/>
                </a:solidFill>
                <a:latin typeface="Calibri"/>
              </a:defRPr>
            </a:pPr>
            <a:r>
              <a:rPr dirty="0"/>
              <a:t>TF-IDF + Logistic Regression outperforms complex models —</a:t>
            </a:r>
          </a:p>
          <a:p>
            <a:pPr>
              <a:spcAft>
                <a:spcPts val="400"/>
              </a:spcAft>
              <a:defRPr sz="1800" b="0">
                <a:solidFill>
                  <a:srgbClr val="BBBBBB"/>
                </a:solidFill>
                <a:latin typeface="Calibri"/>
              </a:defRPr>
            </a:pPr>
            <a:r>
              <a:rPr dirty="0"/>
              <a:t>interpretable, fast, and production-ready —</a:t>
            </a:r>
          </a:p>
          <a:p>
            <a:pPr>
              <a:spcAft>
                <a:spcPts val="400"/>
              </a:spcAft>
              <a:defRPr sz="1800" b="0">
                <a:solidFill>
                  <a:srgbClr val="BBBBBB"/>
                </a:solidFill>
                <a:latin typeface="Calibri"/>
              </a:defRPr>
            </a:pPr>
            <a:r>
              <a:rPr dirty="0"/>
              <a:t>with zero GPU overhead.</a:t>
            </a:r>
          </a:p>
          <a:p>
            <a:pPr>
              <a:spcAft>
                <a:spcPts val="40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endParaRPr dirty="0"/>
          </a:p>
          <a:p>
            <a:pPr>
              <a:spcAft>
                <a:spcPts val="400"/>
              </a:spcAft>
              <a:defRPr sz="1800" b="1">
                <a:solidFill>
                  <a:srgbClr val="F39C12"/>
                </a:solidFill>
                <a:latin typeface="Calibri"/>
              </a:defRPr>
            </a:pPr>
            <a:r>
              <a:rPr dirty="0"/>
              <a:t>Well-engineered features &gt; complex algorithms.</a:t>
            </a:r>
          </a:p>
          <a:p>
            <a:pPr>
              <a:spcAft>
                <a:spcPts val="400"/>
              </a:spcAft>
              <a:defRPr sz="1800" b="1">
                <a:solidFill>
                  <a:srgbClr val="F39C12"/>
                </a:solidFill>
                <a:latin typeface="Calibri"/>
              </a:defRPr>
            </a:pPr>
            <a:r>
              <a:rPr dirty="0"/>
              <a:t>Simplicity wins.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875" y="5218430"/>
            <a:ext cx="996315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498DB"/>
                </a:solidFill>
                <a:latin typeface="Calibri"/>
              </a:defRPr>
            </a:pPr>
            <a:r>
              <a:rPr dirty="0"/>
              <a:t>Final Model: Logistic Regression + TF-IDF (n-grams 1-3, 8k features)  •  Accuracy: 93.27%  •  F1: 0.9326  •  ROC-AUC: 0.9825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1601</Words>
  <Application>Microsoft Office PowerPoint</Application>
  <PresentationFormat>Widescreen</PresentationFormat>
  <Paragraphs>272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Octavian L .</cp:lastModifiedBy>
  <cp:revision>2</cp:revision>
  <dcterms:created xsi:type="dcterms:W3CDTF">2013-01-27T09:14:16Z</dcterms:created>
  <dcterms:modified xsi:type="dcterms:W3CDTF">2026-07-31T05:05:44Z</dcterms:modified>
  <cp:category/>
</cp:coreProperties>
</file>